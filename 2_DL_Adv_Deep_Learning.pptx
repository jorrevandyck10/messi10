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79"/>
  </p:notesMasterIdLst>
  <p:handoutMasterIdLst>
    <p:handoutMasterId r:id="rId80"/>
  </p:handoutMasterIdLst>
  <p:sldIdLst>
    <p:sldId id="395" r:id="rId7"/>
    <p:sldId id="349" r:id="rId8"/>
    <p:sldId id="404" r:id="rId9"/>
    <p:sldId id="405" r:id="rId10"/>
    <p:sldId id="396" r:id="rId11"/>
    <p:sldId id="402" r:id="rId12"/>
    <p:sldId id="406" r:id="rId13"/>
    <p:sldId id="256" r:id="rId14"/>
    <p:sldId id="257" r:id="rId15"/>
    <p:sldId id="276" r:id="rId16"/>
    <p:sldId id="277" r:id="rId17"/>
    <p:sldId id="278" r:id="rId18"/>
    <p:sldId id="280" r:id="rId19"/>
    <p:sldId id="281" r:id="rId20"/>
    <p:sldId id="414" r:id="rId21"/>
    <p:sldId id="338" r:id="rId22"/>
    <p:sldId id="303" r:id="rId23"/>
    <p:sldId id="346" r:id="rId24"/>
    <p:sldId id="347" r:id="rId25"/>
    <p:sldId id="348" r:id="rId26"/>
    <p:sldId id="282" r:id="rId27"/>
    <p:sldId id="283" r:id="rId28"/>
    <p:sldId id="284" r:id="rId29"/>
    <p:sldId id="339" r:id="rId30"/>
    <p:sldId id="285" r:id="rId31"/>
    <p:sldId id="318" r:id="rId32"/>
    <p:sldId id="279" r:id="rId33"/>
    <p:sldId id="340" r:id="rId34"/>
    <p:sldId id="341" r:id="rId35"/>
    <p:sldId id="345" r:id="rId36"/>
    <p:sldId id="342" r:id="rId37"/>
    <p:sldId id="343" r:id="rId38"/>
    <p:sldId id="353" r:id="rId39"/>
    <p:sldId id="350" r:id="rId40"/>
    <p:sldId id="352" r:id="rId41"/>
    <p:sldId id="354" r:id="rId42"/>
    <p:sldId id="351" r:id="rId43"/>
    <p:sldId id="355" r:id="rId44"/>
    <p:sldId id="356" r:id="rId45"/>
    <p:sldId id="358" r:id="rId46"/>
    <p:sldId id="360" r:id="rId47"/>
    <p:sldId id="359" r:id="rId48"/>
    <p:sldId id="361" r:id="rId49"/>
    <p:sldId id="362" r:id="rId50"/>
    <p:sldId id="363" r:id="rId51"/>
    <p:sldId id="357" r:id="rId52"/>
    <p:sldId id="364" r:id="rId53"/>
    <p:sldId id="365" r:id="rId54"/>
    <p:sldId id="368" r:id="rId55"/>
    <p:sldId id="367" r:id="rId56"/>
    <p:sldId id="369" r:id="rId57"/>
    <p:sldId id="370" r:id="rId58"/>
    <p:sldId id="372" r:id="rId59"/>
    <p:sldId id="371" r:id="rId60"/>
    <p:sldId id="373" r:id="rId61"/>
    <p:sldId id="374" r:id="rId62"/>
    <p:sldId id="366" r:id="rId63"/>
    <p:sldId id="377" r:id="rId64"/>
    <p:sldId id="375" r:id="rId65"/>
    <p:sldId id="378" r:id="rId66"/>
    <p:sldId id="380" r:id="rId67"/>
    <p:sldId id="381" r:id="rId68"/>
    <p:sldId id="379" r:id="rId69"/>
    <p:sldId id="376" r:id="rId70"/>
    <p:sldId id="385" r:id="rId71"/>
    <p:sldId id="409" r:id="rId72"/>
    <p:sldId id="412" r:id="rId73"/>
    <p:sldId id="408" r:id="rId74"/>
    <p:sldId id="410" r:id="rId75"/>
    <p:sldId id="411" r:id="rId76"/>
    <p:sldId id="413" r:id="rId77"/>
    <p:sldId id="275" r:id="rId7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CC3BB7-EF3A-4B8C-909C-C5B8242142C8}">
          <p14:sldIdLst>
            <p14:sldId id="395"/>
            <p14:sldId id="349"/>
            <p14:sldId id="404"/>
            <p14:sldId id="405"/>
            <p14:sldId id="396"/>
            <p14:sldId id="402"/>
            <p14:sldId id="406"/>
            <p14:sldId id="256"/>
            <p14:sldId id="257"/>
            <p14:sldId id="276"/>
            <p14:sldId id="277"/>
            <p14:sldId id="278"/>
            <p14:sldId id="280"/>
            <p14:sldId id="281"/>
            <p14:sldId id="414"/>
            <p14:sldId id="338"/>
            <p14:sldId id="303"/>
            <p14:sldId id="346"/>
            <p14:sldId id="347"/>
            <p14:sldId id="348"/>
            <p14:sldId id="282"/>
            <p14:sldId id="283"/>
            <p14:sldId id="284"/>
            <p14:sldId id="339"/>
            <p14:sldId id="285"/>
            <p14:sldId id="318"/>
            <p14:sldId id="279"/>
            <p14:sldId id="340"/>
            <p14:sldId id="341"/>
            <p14:sldId id="345"/>
            <p14:sldId id="342"/>
            <p14:sldId id="343"/>
            <p14:sldId id="353"/>
            <p14:sldId id="350"/>
            <p14:sldId id="352"/>
            <p14:sldId id="354"/>
            <p14:sldId id="351"/>
            <p14:sldId id="355"/>
            <p14:sldId id="356"/>
            <p14:sldId id="358"/>
            <p14:sldId id="360"/>
            <p14:sldId id="359"/>
            <p14:sldId id="361"/>
            <p14:sldId id="362"/>
            <p14:sldId id="363"/>
            <p14:sldId id="357"/>
            <p14:sldId id="364"/>
            <p14:sldId id="365"/>
            <p14:sldId id="368"/>
            <p14:sldId id="367"/>
            <p14:sldId id="369"/>
            <p14:sldId id="370"/>
            <p14:sldId id="372"/>
            <p14:sldId id="371"/>
            <p14:sldId id="373"/>
            <p14:sldId id="374"/>
            <p14:sldId id="366"/>
            <p14:sldId id="377"/>
            <p14:sldId id="375"/>
            <p14:sldId id="378"/>
            <p14:sldId id="380"/>
            <p14:sldId id="381"/>
            <p14:sldId id="379"/>
            <p14:sldId id="376"/>
            <p14:sldId id="385"/>
            <p14:sldId id="409"/>
            <p14:sldId id="412"/>
            <p14:sldId id="408"/>
            <p14:sldId id="410"/>
            <p14:sldId id="411"/>
            <p14:sldId id="413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6432"/>
    <a:srgbClr val="000A1E"/>
    <a:srgbClr val="F2F5F8"/>
    <a:srgbClr val="000000"/>
    <a:srgbClr val="F04619"/>
    <a:srgbClr val="E8EBEE"/>
    <a:srgbClr val="00283C"/>
    <a:srgbClr val="DEE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017" autoAdjust="0"/>
  </p:normalViewPr>
  <p:slideViewPr>
    <p:cSldViewPr snapToGrid="0">
      <p:cViewPr varScale="1">
        <p:scale>
          <a:sx n="87" d="100"/>
          <a:sy n="87" d="100"/>
        </p:scale>
        <p:origin x="14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tableStyles" Target="tableStyles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handoutMaster" Target="handoutMasters/handoutMaster1.xml"/><Relationship Id="rId85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61" Type="http://schemas.openxmlformats.org/officeDocument/2006/relationships/slide" Target="slides/slide55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m Heyns" userId="7a623cc0-5b6c-43c7-88a0-ff55db19c79e" providerId="ADAL" clId="{DBE576AF-F76A-4937-8CB3-F74CD1AA1C84}"/>
    <pc:docChg chg="modSld sldOrd">
      <pc:chgData name="Bram Heyns" userId="7a623cc0-5b6c-43c7-88a0-ff55db19c79e" providerId="ADAL" clId="{DBE576AF-F76A-4937-8CB3-F74CD1AA1C84}" dt="2026-10-15T19:04:55.733" v="26" actId="20577"/>
      <pc:docMkLst>
        <pc:docMk/>
      </pc:docMkLst>
      <pc:sldChg chg="modSp mod">
        <pc:chgData name="Bram Heyns" userId="7a623cc0-5b6c-43c7-88a0-ff55db19c79e" providerId="ADAL" clId="{DBE576AF-F76A-4937-8CB3-F74CD1AA1C84}" dt="2026-10-15T16:45:25.280" v="13" actId="20577"/>
        <pc:sldMkLst>
          <pc:docMk/>
          <pc:sldMk cId="3616312771" sldId="256"/>
        </pc:sldMkLst>
        <pc:spChg chg="mod">
          <ac:chgData name="Bram Heyns" userId="7a623cc0-5b6c-43c7-88a0-ff55db19c79e" providerId="ADAL" clId="{DBE576AF-F76A-4937-8CB3-F74CD1AA1C84}" dt="2026-10-15T16:45:25.280" v="13" actId="20577"/>
          <ac:spMkLst>
            <pc:docMk/>
            <pc:sldMk cId="3616312771" sldId="256"/>
            <ac:spMk id="3" creationId="{A366B98C-C4D8-05F5-9F65-8885769057E9}"/>
          </ac:spMkLst>
        </pc:spChg>
      </pc:sldChg>
      <pc:sldChg chg="modSp mod">
        <pc:chgData name="Bram Heyns" userId="7a623cc0-5b6c-43c7-88a0-ff55db19c79e" providerId="ADAL" clId="{DBE576AF-F76A-4937-8CB3-F74CD1AA1C84}" dt="2026-10-15T18:45:44.565" v="20" actId="113"/>
        <pc:sldMkLst>
          <pc:docMk/>
          <pc:sldMk cId="276004885" sldId="257"/>
        </pc:sldMkLst>
        <pc:spChg chg="mod">
          <ac:chgData name="Bram Heyns" userId="7a623cc0-5b6c-43c7-88a0-ff55db19c79e" providerId="ADAL" clId="{DBE576AF-F76A-4937-8CB3-F74CD1AA1C84}" dt="2026-10-15T18:45:44.565" v="20" actId="113"/>
          <ac:spMkLst>
            <pc:docMk/>
            <pc:sldMk cId="276004885" sldId="257"/>
            <ac:spMk id="4" creationId="{8F1F9D7B-3F2A-67D6-D6AA-B56D421D50C1}"/>
          </ac:spMkLst>
        </pc:spChg>
      </pc:sldChg>
      <pc:sldChg chg="modSp mod">
        <pc:chgData name="Bram Heyns" userId="7a623cc0-5b6c-43c7-88a0-ff55db19c79e" providerId="ADAL" clId="{DBE576AF-F76A-4937-8CB3-F74CD1AA1C84}" dt="2026-10-15T19:04:55.733" v="26" actId="20577"/>
        <pc:sldMkLst>
          <pc:docMk/>
          <pc:sldMk cId="3268065402" sldId="375"/>
        </pc:sldMkLst>
        <pc:spChg chg="mod">
          <ac:chgData name="Bram Heyns" userId="7a623cc0-5b6c-43c7-88a0-ff55db19c79e" providerId="ADAL" clId="{DBE576AF-F76A-4937-8CB3-F74CD1AA1C84}" dt="2026-10-15T19:04:55.733" v="26" actId="20577"/>
          <ac:spMkLst>
            <pc:docMk/>
            <pc:sldMk cId="3268065402" sldId="375"/>
            <ac:spMk id="2" creationId="{1749C429-6578-6E65-A9A8-81E45BD1E8CD}"/>
          </ac:spMkLst>
        </pc:spChg>
      </pc:sldChg>
      <pc:sldChg chg="modSp mod ord">
        <pc:chgData name="Bram Heyns" userId="7a623cc0-5b6c-43c7-88a0-ff55db19c79e" providerId="ADAL" clId="{DBE576AF-F76A-4937-8CB3-F74CD1AA1C84}" dt="2026-10-15T19:04:47.557" v="24" actId="20577"/>
        <pc:sldMkLst>
          <pc:docMk/>
          <pc:sldMk cId="3514668977" sldId="377"/>
        </pc:sldMkLst>
        <pc:spChg chg="mod">
          <ac:chgData name="Bram Heyns" userId="7a623cc0-5b6c-43c7-88a0-ff55db19c79e" providerId="ADAL" clId="{DBE576AF-F76A-4937-8CB3-F74CD1AA1C84}" dt="2026-10-15T19:04:47.557" v="24" actId="20577"/>
          <ac:spMkLst>
            <pc:docMk/>
            <pc:sldMk cId="3514668977" sldId="377"/>
            <ac:spMk id="2" creationId="{CC0917AE-D464-7150-472E-07255BE3C48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10/15/2026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10/15/2026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/>
              <a:t>Traditional ML pipeline: from tabular data to tabular data (classification/regression)</a:t>
            </a:r>
          </a:p>
          <a:p>
            <a:r>
              <a:rPr lang="en-US" noProof="0"/>
              <a:t>DL pipeline: data is ‘high densitiy, information heavy, high throughput’ </a:t>
            </a:r>
            <a:r>
              <a:rPr lang="en-US" noProof="0">
                <a:sym typeface="Wingdings" panose="05000000000000000000" pitchFamily="2" charset="2"/>
              </a:rPr>
              <a:t> classical ML techniques are not equipped to deal with such data heavy information. In the old days, we used feature engineering techniques to extract useful information out of the data = we transformed it into tabular data. Now we use deep neural nets to decide for themselves what ‘features’ it should extract, given input and output data…</a:t>
            </a:r>
            <a:endParaRPr lang="en-US" noProof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41974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https://gonzoml.substack.com/p/deep-learning-frameworks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20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03691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/>
              <a:t>Neuron in the human brain on the left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/>
              <a:t>Dendrites capture signals from previous synapses (some weak, some strong), send them to the nucleus, which combines them. If a certain threshold is reached, the neuron ‘fires’ a signal down its axon, for other downstream connected  synapses/dendrites can capture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noProof="0"/>
              <a:t>Abstraction of neuron on the right = perceptron.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/>
              <a:t>Every input has a certain weight (importance), all the weighted inputs are summed together (including a bias) </a:t>
            </a:r>
            <a:r>
              <a:rPr lang="en-US" noProof="0">
                <a:sym typeface="Wingdings" panose="05000000000000000000" pitchFamily="2" charset="2"/>
              </a:rPr>
              <a:t> effective way to calculate the result is via matrix calculations  if you calculate with matrices of different dimensions, they are called ‘tensors’ (hence TensorFlow)</a:t>
            </a:r>
            <a:endParaRPr lang="en-US" noProof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21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6164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/>
              <a:t>Chaining together multiple linear calculations, will just result in one big linear equation. Now there is no option to map non-linearity in the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/>
              <a:t>Add a non-linear activation function to each neuron, ‘a fire when above threshold’-non-linear-mechanism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/>
              <a:t>Add the weighted outputs together (= x-axis), and map it to the activation function to see how much output is generated by the neuron (the y-axis) </a:t>
            </a:r>
            <a:r>
              <a:rPr lang="en-US" noProof="0">
                <a:sym typeface="Wingdings" panose="05000000000000000000" pitchFamily="2" charset="2"/>
              </a:rPr>
              <a:t> this mapping is non-linear</a:t>
            </a:r>
            <a:endParaRPr lang="en-US" noProof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/>
              <a:t>Typical activation functions in the past: sigmoid, or tanh. Now mostly (leaky) ReLU is used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/>
              <a:t>Notice the ‘sweet spot’ of the activation functions around the center (the ‘null’): in this part the non-linearity is most effective, especially if we want to calculate the gradient (‘richtingscoefficient’ in Dutch)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noProof="0"/>
              <a:t>That’s why we don’t often use sigmoid-type activation functions anymore: if the weighted sum of the inputs is really low, or really high: output is the same as an extremely high (or low) sum. The ReLU fixes this problem: if the sum is really high (Fire, Fire, Fire!), the result will also be very very high.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23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383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noProof="0"/>
              <a:t>Combining it all together to form: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/>
              <a:t>a fully connected (FCN), aka naïve, aka feed-forward network. Aka a multi-layer perceptron (oldskool). 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/>
              <a:t>Usually the first hidden layer has more neurons than the second layer: the latter one ‘compresses’ the information in a denser format, and the output layer is the ultimate compressor to whatever amount of output nodes you need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25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1715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https://www.khanacademy.org/math/multivariable-calculus/applications-of-multivariable-derivatives/optimizing-multivariable-functions-videos/v/saddle-points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44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98725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On one end of the spectrum: (Batch) Gradient Descent: take </a:t>
            </a:r>
            <a:r>
              <a:rPr lang="nl-BE" sz="1600" b="1"/>
              <a:t>all</a:t>
            </a:r>
            <a:r>
              <a:rPr lang="nl-BE"/>
              <a:t> training samples, run them through your network, calculate errors, and use an average of the gradient to update our parameters. Advantage: takes all samples, so calculation is optimal. We have a complete overview of the loss landscape at that point, with those settings, and we calculate the best way down. But it needs lots of memory. And main disadvantage: getting stuck in the local minima!</a:t>
            </a:r>
          </a:p>
          <a:p>
            <a:endParaRPr lang="nl-BE"/>
          </a:p>
          <a:p>
            <a:r>
              <a:rPr lang="nl-BE"/>
              <a:t>Other side of the spectrum: take one training sample at a time, run it through the network, calculate error and gradient, update parameters, take nextt sample,… </a:t>
            </a:r>
          </a:p>
          <a:p>
            <a:endParaRPr lang="nl-BE"/>
          </a:p>
          <a:p>
            <a:r>
              <a:rPr lang="nl-BE"/>
              <a:t>Mini-batch approach: in between the two.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45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83589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 covariate shift refers to the phenomenon where the distribution of inputs to a layer changes during training because the parameters of previous layers are being updated. This forces each layer to continuously adapt to new input distributions, which can slow down training.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Normalization addresses this by normalizing the activations of each layer to have zero mean and unit variance within a mini-batch, then applying learnable scale and shift parameters. This keeps the input distribution to each layer more stable, allowing for faster and more reliable training.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53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95093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/>
              <a:t>When validation error no longer improves, stop training. Because every training cycle has the potential to make a certain weight bigger and bigger, and thus more focussed on certain aspects, so more prone to overfitting, stopping the training cycles is a regularization technique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58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18752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By turning random selected neurons off during training (and only during training, not during inference), we force all neurons to contribute to the end result. They cannot afford a neuron specialize in a certain aspects, because if it’s turned off, they network doesn’t catch that aspect. So all neurons do a little detection, no one neuron does all detection of a feature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60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07757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https://www.asimovinstitute.org/neural-network-zoo/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65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34241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https://www.jeremyjordan.me/autoencoders/</a:t>
            </a:r>
          </a:p>
          <a:p>
            <a:endParaRPr lang="en-US" dirty="0"/>
          </a:p>
          <a:p>
            <a:r>
              <a:rPr lang="en-US" b="1" dirty="0"/>
              <a:t>🔍 Latent Space in VAEs: Distributions, Not Just Vectors</a:t>
            </a:r>
          </a:p>
          <a:p>
            <a:r>
              <a:rPr lang="en-US" dirty="0"/>
              <a:t>In a </a:t>
            </a:r>
            <a:r>
              <a:rPr lang="en-US" b="1" dirty="0"/>
              <a:t>standard autoencoder</a:t>
            </a:r>
            <a:r>
              <a:rPr lang="en-US" dirty="0"/>
              <a:t>, the encoder compresses the input into a </a:t>
            </a:r>
            <a:r>
              <a:rPr lang="en-US" b="1" dirty="0"/>
              <a:t>fixed latent vector</a:t>
            </a:r>
            <a:r>
              <a:rPr lang="en-US" dirty="0"/>
              <a:t> — a deterministic representation.</a:t>
            </a:r>
          </a:p>
          <a:p>
            <a:r>
              <a:rPr lang="en-US" dirty="0"/>
              <a:t>In a </a:t>
            </a:r>
            <a:r>
              <a:rPr lang="en-US" b="1" dirty="0"/>
              <a:t>VAE</a:t>
            </a:r>
            <a:r>
              <a:rPr lang="en-US" dirty="0"/>
              <a:t>, the encoder instead learns a </a:t>
            </a:r>
            <a:r>
              <a:rPr lang="en-US" b="1" dirty="0"/>
              <a:t>probability distribution</a:t>
            </a:r>
            <a:r>
              <a:rPr lang="en-US" dirty="0"/>
              <a:t> for each dimension of the latent space:</a:t>
            </a:r>
          </a:p>
          <a:p>
            <a:r>
              <a:rPr lang="en-US" dirty="0"/>
              <a:t>Each feature is represented by a </a:t>
            </a:r>
            <a:r>
              <a:rPr lang="en-US" b="1" dirty="0"/>
              <a:t>mean</a:t>
            </a:r>
            <a:r>
              <a:rPr lang="en-US" dirty="0"/>
              <a:t> and </a:t>
            </a:r>
            <a:r>
              <a:rPr lang="en-US" b="1" dirty="0"/>
              <a:t>variance</a:t>
            </a:r>
            <a:r>
              <a:rPr lang="en-US" dirty="0"/>
              <a:t>.</a:t>
            </a:r>
          </a:p>
          <a:p>
            <a:r>
              <a:rPr lang="en-US" dirty="0"/>
              <a:t>So instead of a sharp value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 = 3.2</a:t>
            </a:r>
            <a:r>
              <a:rPr lang="en-US" dirty="0"/>
              <a:t>, you get something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 ∼ N(3.2, 0.1²)</a:t>
            </a:r>
            <a:r>
              <a:rPr lang="en-US" dirty="0"/>
              <a:t>.</a:t>
            </a:r>
          </a:p>
          <a:p>
            <a:r>
              <a:rPr lang="en-US" dirty="0"/>
              <a:t>This means:</a:t>
            </a:r>
          </a:p>
          <a:p>
            <a:r>
              <a:rPr lang="en-US" b="1" dirty="0"/>
              <a:t>Sharp distributions</a:t>
            </a:r>
            <a:r>
              <a:rPr lang="en-US" dirty="0"/>
              <a:t> (low variance) indicate the model is confident about that feature.</a:t>
            </a:r>
          </a:p>
          <a:p>
            <a:r>
              <a:rPr lang="en-US" b="1" dirty="0"/>
              <a:t>Broad distributions</a:t>
            </a:r>
            <a:r>
              <a:rPr lang="en-US" dirty="0"/>
              <a:t> (high variance) suggest uncertainty or variability in that feature.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🎲 Sampling and Decoding</a:t>
            </a:r>
          </a:p>
          <a:p>
            <a:r>
              <a:rPr lang="en-US" dirty="0"/>
              <a:t>During training:</a:t>
            </a:r>
          </a:p>
          <a:p>
            <a:r>
              <a:rPr lang="en-US" dirty="0"/>
              <a:t>You </a:t>
            </a:r>
            <a:r>
              <a:rPr lang="en-US" b="1" dirty="0"/>
              <a:t>sample</a:t>
            </a:r>
            <a:r>
              <a:rPr lang="en-US" dirty="0"/>
              <a:t> from these distributions to get a latent vector.</a:t>
            </a:r>
          </a:p>
          <a:p>
            <a:r>
              <a:rPr lang="en-US" dirty="0"/>
              <a:t>This sampled vector is passed to the </a:t>
            </a:r>
            <a:r>
              <a:rPr lang="en-US" b="1" dirty="0"/>
              <a:t>decoder</a:t>
            </a:r>
            <a:r>
              <a:rPr lang="en-US" dirty="0"/>
              <a:t>, which tries to reconstruct the original input.</a:t>
            </a:r>
          </a:p>
          <a:p>
            <a:r>
              <a:rPr lang="en-US" dirty="0"/>
              <a:t>This sampling introduces </a:t>
            </a:r>
            <a:r>
              <a:rPr lang="en-US" b="1" dirty="0"/>
              <a:t>stochasticity</a:t>
            </a:r>
            <a:r>
              <a:rPr lang="en-US" dirty="0"/>
              <a:t>, which:</a:t>
            </a:r>
          </a:p>
          <a:p>
            <a:r>
              <a:rPr lang="en-US" dirty="0"/>
              <a:t>Forces the model to learn </a:t>
            </a:r>
            <a:r>
              <a:rPr lang="en-US" b="1" dirty="0"/>
              <a:t>robust representations</a:t>
            </a:r>
            <a:r>
              <a:rPr lang="en-US" dirty="0"/>
              <a:t>.</a:t>
            </a:r>
          </a:p>
          <a:p>
            <a:r>
              <a:rPr lang="en-US" dirty="0"/>
              <a:t>Makes the latent space </a:t>
            </a:r>
            <a:r>
              <a:rPr lang="en-US" b="1" dirty="0"/>
              <a:t>smooth and continuous</a:t>
            </a:r>
            <a:r>
              <a:rPr lang="en-US" dirty="0"/>
              <a:t>, ideal for generating new data.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🧪 Why This Matters</a:t>
            </a:r>
          </a:p>
          <a:p>
            <a:r>
              <a:rPr lang="en-US" dirty="0"/>
              <a:t>Because the latent space is probabilistic:</a:t>
            </a:r>
          </a:p>
          <a:p>
            <a:r>
              <a:rPr lang="en-US" dirty="0"/>
              <a:t>You can </a:t>
            </a:r>
            <a:r>
              <a:rPr lang="en-US" b="1" dirty="0"/>
              <a:t>interpolate</a:t>
            </a:r>
            <a:r>
              <a:rPr lang="en-US" dirty="0"/>
              <a:t> between points and still get meaningful outputs.</a:t>
            </a:r>
          </a:p>
          <a:p>
            <a:r>
              <a:rPr lang="en-US" dirty="0"/>
              <a:t>You can </a:t>
            </a:r>
            <a:r>
              <a:rPr lang="en-US" b="1" dirty="0"/>
              <a:t>generate new samples</a:t>
            </a:r>
            <a:r>
              <a:rPr lang="en-US" dirty="0"/>
              <a:t> by sampling from the latent space (e.g., from a standard normal distribution).</a:t>
            </a:r>
          </a:p>
          <a:p>
            <a:r>
              <a:rPr lang="en-US" dirty="0"/>
              <a:t>This is why VAEs are popular in </a:t>
            </a:r>
            <a:r>
              <a:rPr lang="en-US" b="1" dirty="0"/>
              <a:t>generative tasks</a:t>
            </a:r>
            <a:r>
              <a:rPr lang="en-US" dirty="0"/>
              <a:t> like:</a:t>
            </a:r>
          </a:p>
          <a:p>
            <a:r>
              <a:rPr lang="en-US" dirty="0"/>
              <a:t>Image synthesis</a:t>
            </a:r>
          </a:p>
          <a:p>
            <a:r>
              <a:rPr lang="en-US" dirty="0"/>
              <a:t>Style transfer</a:t>
            </a:r>
          </a:p>
          <a:p>
            <a:r>
              <a:rPr lang="en-US" dirty="0"/>
              <a:t>Anomaly detection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67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0591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sv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6.svg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sv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7.svg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sv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3.svg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sv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sv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sv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sv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sv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00038E0-F866-4A69-B012-FC3E7C7DBCA8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13" name="Graphic 10">
            <a:extLst>
              <a:ext uri="{FF2B5EF4-FFF2-40B4-BE49-F238E27FC236}">
                <a16:creationId xmlns:a16="http://schemas.microsoft.com/office/drawing/2014/main" id="{51DE751A-7A3F-D6AE-25C3-644EB1427392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276C2D8-1CCA-9313-263C-BE7BA6F030B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400BD0D-DF42-6125-4F75-BB6A1C417CD6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A7A548C-8071-4F5D-70A2-09A363BF8933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EA93CC7-CB38-F753-0C0A-4EAB7D04B05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78" r="4678"/>
          <a:stretch/>
        </p:blipFill>
        <p:spPr>
          <a:xfrm rot="16200000">
            <a:off x="1831619" y="1988678"/>
            <a:ext cx="6858001" cy="2880641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7347535-7C29-4646-AB4B-AD7ADFA1EC5F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74C591E6-C00F-C1F8-15EB-0920318EC32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8009DB-9DEC-C761-9F63-AC972B2A09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810AE74-A69E-D715-56F3-5934FF11CC3B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1692126-DA4E-887C-E99A-721D7737DEEE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28389A-8E1A-4609-B4BC-942E1F741D2F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A6CE125F-0F09-D531-5906-DEE0024F18E4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E78C081-D567-7110-4A41-1A106EB861C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E94E96B-BC8A-D329-00CE-7254A5A50072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0B32232-9825-CD76-B211-D98D150D7235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60C0742-7C35-27FD-F7B8-B99B49F84C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7419343" y="1589213"/>
            <a:ext cx="5849106" cy="36962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A4F9D45-4BC8-F585-6E92-6C3F5C543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999" b="-3999"/>
          <a:stretch/>
        </p:blipFill>
        <p:spPr>
          <a:xfrm rot="16200000">
            <a:off x="4369743" y="2280680"/>
            <a:ext cx="5635107" cy="232458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9600" y="614106"/>
            <a:ext cx="2149200" cy="5646421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563783-9E54-4A64-80E3-C85DCD4FA97B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7C667DC1-8C62-66BF-8EEA-889500EEA890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DD7C630-260D-36FF-BAE9-C1F1BB9E2B49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BF7592A-9691-35B4-4CD1-0397D220854F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7E52044-89B3-E563-3C67-AE2A7B60C1C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DC542420-B007-8E8A-7AEF-F8F9BB58BD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DEB0BF-4650-4617-A2D9-19BC8C46AAF1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44E15D9-B904-6C23-DB9B-FE96682149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738"/>
          <a:stretch>
            <a:fillRect/>
          </a:stretch>
        </p:blipFill>
        <p:spPr>
          <a:xfrm rot="10800000">
            <a:off x="0" y="0"/>
            <a:ext cx="4708559" cy="3150972"/>
          </a:xfrm>
          <a:custGeom>
            <a:avLst/>
            <a:gdLst>
              <a:gd name="connsiteX0" fmla="*/ 4708559 w 4708559"/>
              <a:gd name="connsiteY0" fmla="*/ 3150972 h 3150972"/>
              <a:gd name="connsiteX1" fmla="*/ 0 w 4708559"/>
              <a:gd name="connsiteY1" fmla="*/ 3150972 h 3150972"/>
              <a:gd name="connsiteX2" fmla="*/ 0 w 4708559"/>
              <a:gd name="connsiteY2" fmla="*/ 0 h 3150972"/>
              <a:gd name="connsiteX3" fmla="*/ 4708559 w 4708559"/>
              <a:gd name="connsiteY3" fmla="*/ 0 h 31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8559" h="3150972">
                <a:moveTo>
                  <a:pt x="4708559" y="3150972"/>
                </a:moveTo>
                <a:lnTo>
                  <a:pt x="0" y="3150972"/>
                </a:lnTo>
                <a:lnTo>
                  <a:pt x="0" y="0"/>
                </a:lnTo>
                <a:lnTo>
                  <a:pt x="4708559" y="0"/>
                </a:lnTo>
                <a:close/>
              </a:path>
            </a:pathLst>
          </a:cu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777EEE4-3753-4D64-AE46-551F2790F8A1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48BC169-BE0A-CD52-B729-7A8321F2E6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754"/>
          <a:stretch>
            <a:fillRect/>
          </a:stretch>
        </p:blipFill>
        <p:spPr>
          <a:xfrm rot="10800000">
            <a:off x="-1" y="3348810"/>
            <a:ext cx="4694740" cy="3135330"/>
          </a:xfrm>
          <a:custGeom>
            <a:avLst/>
            <a:gdLst>
              <a:gd name="connsiteX0" fmla="*/ 4694740 w 4694740"/>
              <a:gd name="connsiteY0" fmla="*/ 3135330 h 3135330"/>
              <a:gd name="connsiteX1" fmla="*/ 0 w 4694740"/>
              <a:gd name="connsiteY1" fmla="*/ 3135330 h 3135330"/>
              <a:gd name="connsiteX2" fmla="*/ 0 w 4694740"/>
              <a:gd name="connsiteY2" fmla="*/ 0 h 3135330"/>
              <a:gd name="connsiteX3" fmla="*/ 4694740 w 4694740"/>
              <a:gd name="connsiteY3" fmla="*/ 0 h 313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4740" h="3135330">
                <a:moveTo>
                  <a:pt x="4694740" y="3135330"/>
                </a:moveTo>
                <a:lnTo>
                  <a:pt x="0" y="3135330"/>
                </a:lnTo>
                <a:lnTo>
                  <a:pt x="0" y="0"/>
                </a:lnTo>
                <a:lnTo>
                  <a:pt x="4694740" y="0"/>
                </a:lnTo>
                <a:close/>
              </a:path>
            </a:pathLst>
          </a:cu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26401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B2F6AC21-BFC3-4525-8B41-8B5913F62ABC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2FF52-2606-D47E-1C09-77E2018FAD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738"/>
          <a:stretch>
            <a:fillRect/>
          </a:stretch>
        </p:blipFill>
        <p:spPr>
          <a:xfrm rot="10800000">
            <a:off x="0" y="0"/>
            <a:ext cx="4708559" cy="3150972"/>
          </a:xfrm>
          <a:custGeom>
            <a:avLst/>
            <a:gdLst>
              <a:gd name="connsiteX0" fmla="*/ 4708559 w 4708559"/>
              <a:gd name="connsiteY0" fmla="*/ 3150972 h 3150972"/>
              <a:gd name="connsiteX1" fmla="*/ 0 w 4708559"/>
              <a:gd name="connsiteY1" fmla="*/ 3150972 h 3150972"/>
              <a:gd name="connsiteX2" fmla="*/ 0 w 4708559"/>
              <a:gd name="connsiteY2" fmla="*/ 0 h 3150972"/>
              <a:gd name="connsiteX3" fmla="*/ 4708559 w 4708559"/>
              <a:gd name="connsiteY3" fmla="*/ 0 h 31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8559" h="3150972">
                <a:moveTo>
                  <a:pt x="4708559" y="3150972"/>
                </a:moveTo>
                <a:lnTo>
                  <a:pt x="0" y="3150972"/>
                </a:lnTo>
                <a:lnTo>
                  <a:pt x="0" y="0"/>
                </a:lnTo>
                <a:lnTo>
                  <a:pt x="4708559" y="0"/>
                </a:lnTo>
                <a:close/>
              </a:path>
            </a:pathLst>
          </a:custGeom>
        </p:spPr>
      </p:pic>
      <p:sp>
        <p:nvSpPr>
          <p:cNvPr id="18" name="Title 6">
            <a:extLst>
              <a:ext uri="{FF2B5EF4-FFF2-40B4-BE49-F238E27FC236}">
                <a16:creationId xmlns:a16="http://schemas.microsoft.com/office/drawing/2014/main" id="{2CC2B56C-04C9-0097-B992-D4AAEE6D7B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91063B6-E4BA-5CD4-29E1-3AA1B5D63796}"/>
              </a:ext>
            </a:extLst>
          </p:cNvPr>
          <p:cNvGrpSpPr/>
          <p:nvPr userDrawn="1"/>
        </p:nvGrpSpPr>
        <p:grpSpPr>
          <a:xfrm>
            <a:off x="6969945" y="625641"/>
            <a:ext cx="4491488" cy="5606717"/>
            <a:chOff x="6663337" y="0"/>
            <a:chExt cx="5010150" cy="6254161"/>
          </a:xfrm>
          <a:solidFill>
            <a:srgbClr val="E8EBEE"/>
          </a:solidFill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D1644A2-6606-40CB-7F1B-E76D588DA8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63338" y="2113005"/>
              <a:ext cx="5010148" cy="1907584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1C2669B-5EAB-3BD5-6A25-2E074B1737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663338" y="0"/>
              <a:ext cx="5010148" cy="190758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60B2BAA-FF76-016A-AE82-B1E108A123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63337" y="4346577"/>
              <a:ext cx="5010150" cy="1907584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6D865C2-7BB3-49EE-851A-EE1F81E0825E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 err="1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2AF3EB5-ACD0-6B09-1FF2-DEA60249A7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4238293" y="2126818"/>
            <a:ext cx="6903349" cy="260980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E949FA5-2A21-A3D7-3120-30E1A0CBA1BA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DE3B9E7-321A-4E6C-8E9F-AD1E1D839DFB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grpSp>
        <p:nvGrpSpPr>
          <p:cNvPr id="3" name="Graphic 10">
            <a:extLst>
              <a:ext uri="{FF2B5EF4-FFF2-40B4-BE49-F238E27FC236}">
                <a16:creationId xmlns:a16="http://schemas.microsoft.com/office/drawing/2014/main" id="{E6D829A7-C904-8A9A-23A5-FCBB631672D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4155CDF-5BB2-0B73-B13E-F402F1F0D01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24181C2-5222-6331-32FB-3046650FADA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852D811-CBE1-B69B-7B4E-CF783C29DE54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0C7DC0E9-206B-3EC5-5A9A-91594C0EE8A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0447"/>
          <a:stretch/>
        </p:blipFill>
        <p:spPr>
          <a:xfrm rot="10800000">
            <a:off x="6675543" y="5426034"/>
            <a:ext cx="4761335" cy="143196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E0157AD-A891-A1AC-9563-C7000319F2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6421892" y="1787400"/>
            <a:ext cx="5204805" cy="32832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BC9DF6-267F-1569-9F12-E1CB06A9EEF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22AABF0-1A3A-478C-9148-A8AF51AC8D47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0F6ABC66-C52D-493A-4A02-B555F6CEE44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5B06E84-D286-23DC-F2C9-D7FBA527FF0D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0F0368-348F-B91F-4B87-D7C0EE032C43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79A3EDF-2B81-916C-4B07-44D213CFBB32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42AD5C7-A0B4-4BAF-A407-55E27D09B4B0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60CC606-236A-479D-919A-C0CBFEDA0D3A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532D8BA-A475-4F28-85A3-F5D83E86EB88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57E6AF9-7610-4073-BBBC-EBBA40F1E011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FC55A0A-43BD-4A06-8CB7-A44A9C987641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F1E4942-FFF0-41CC-8BCB-8FDC564FF7DE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E68734-2502-4DC5-8E12-4C3074920550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32ADBBFE-8B79-4B13-5185-1AA5D799B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16200000">
            <a:off x="5760375" y="941218"/>
            <a:ext cx="7887684" cy="4975564"/>
          </a:xfrm>
          <a:custGeom>
            <a:avLst/>
            <a:gdLst>
              <a:gd name="connsiteX0" fmla="*/ 7887684 w 7887684"/>
              <a:gd name="connsiteY0" fmla="*/ 0 h 4975564"/>
              <a:gd name="connsiteX1" fmla="*/ 7887684 w 7887684"/>
              <a:gd name="connsiteY1" fmla="*/ 1171661 h 4975564"/>
              <a:gd name="connsiteX2" fmla="*/ 7372842 w 7887684"/>
              <a:gd name="connsiteY2" fmla="*/ 1171661 h 4975564"/>
              <a:gd name="connsiteX3" fmla="*/ 7372842 w 7887684"/>
              <a:gd name="connsiteY3" fmla="*/ 4975564 h 4975564"/>
              <a:gd name="connsiteX4" fmla="*/ 503731 w 7887684"/>
              <a:gd name="connsiteY4" fmla="*/ 4975564 h 4975564"/>
              <a:gd name="connsiteX5" fmla="*/ 503731 w 7887684"/>
              <a:gd name="connsiteY5" fmla="*/ 1171661 h 4975564"/>
              <a:gd name="connsiteX6" fmla="*/ 0 w 7887684"/>
              <a:gd name="connsiteY6" fmla="*/ 1171661 h 4975564"/>
              <a:gd name="connsiteX7" fmla="*/ 0 w 7887684"/>
              <a:gd name="connsiteY7" fmla="*/ 0 h 497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7684" h="4975564">
                <a:moveTo>
                  <a:pt x="7887684" y="0"/>
                </a:moveTo>
                <a:lnTo>
                  <a:pt x="7887684" y="1171661"/>
                </a:lnTo>
                <a:lnTo>
                  <a:pt x="7372842" y="1171661"/>
                </a:lnTo>
                <a:lnTo>
                  <a:pt x="7372842" y="4975564"/>
                </a:lnTo>
                <a:lnTo>
                  <a:pt x="503731" y="4975564"/>
                </a:lnTo>
                <a:lnTo>
                  <a:pt x="503731" y="1171661"/>
                </a:lnTo>
                <a:lnTo>
                  <a:pt x="0" y="117166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C3897D9-0CFC-46F1-83A0-B86449D007C5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3BA3DC6-D65A-81E9-A20F-81CD2B1DCF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54" r="8887" b="5227"/>
          <a:stretch>
            <a:fillRect/>
          </a:stretch>
        </p:blipFill>
        <p:spPr>
          <a:xfrm rot="16200000">
            <a:off x="6269881" y="946992"/>
            <a:ext cx="6869112" cy="4975126"/>
          </a:xfrm>
          <a:custGeom>
            <a:avLst/>
            <a:gdLst>
              <a:gd name="connsiteX0" fmla="*/ 6869112 w 6869112"/>
              <a:gd name="connsiteY0" fmla="*/ 0 h 4975126"/>
              <a:gd name="connsiteX1" fmla="*/ 6869112 w 6869112"/>
              <a:gd name="connsiteY1" fmla="*/ 4975126 h 4975126"/>
              <a:gd name="connsiteX2" fmla="*/ 0 w 6869112"/>
              <a:gd name="connsiteY2" fmla="*/ 4975126 h 4975126"/>
              <a:gd name="connsiteX3" fmla="*/ 1 w 6869112"/>
              <a:gd name="connsiteY3" fmla="*/ 0 h 497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112" h="4975126">
                <a:moveTo>
                  <a:pt x="6869112" y="0"/>
                </a:moveTo>
                <a:lnTo>
                  <a:pt x="6869112" y="4975126"/>
                </a:lnTo>
                <a:lnTo>
                  <a:pt x="0" y="4975126"/>
                </a:lnTo>
                <a:lnTo>
                  <a:pt x="1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83E18A-8356-4C05-AA86-59628396F09C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2848F40-D88C-A8ED-DFA0-683C7CFBF6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16200000">
            <a:off x="5760941" y="941436"/>
            <a:ext cx="7886991" cy="4975127"/>
          </a:xfrm>
          <a:custGeom>
            <a:avLst/>
            <a:gdLst>
              <a:gd name="connsiteX0" fmla="*/ 7886991 w 7886991"/>
              <a:gd name="connsiteY0" fmla="*/ 0 h 4975127"/>
              <a:gd name="connsiteX1" fmla="*/ 7886991 w 7886991"/>
              <a:gd name="connsiteY1" fmla="*/ 439703 h 4975127"/>
              <a:gd name="connsiteX2" fmla="*/ 7372495 w 7886991"/>
              <a:gd name="connsiteY2" fmla="*/ 439703 h 4975127"/>
              <a:gd name="connsiteX3" fmla="*/ 7372495 w 7886991"/>
              <a:gd name="connsiteY3" fmla="*/ 4975127 h 4975127"/>
              <a:gd name="connsiteX4" fmla="*/ 514495 w 7886991"/>
              <a:gd name="connsiteY4" fmla="*/ 4975127 h 4975127"/>
              <a:gd name="connsiteX5" fmla="*/ 514495 w 7886991"/>
              <a:gd name="connsiteY5" fmla="*/ 159287 h 4975127"/>
              <a:gd name="connsiteX6" fmla="*/ 0 w 7886991"/>
              <a:gd name="connsiteY6" fmla="*/ 159287 h 4975127"/>
              <a:gd name="connsiteX7" fmla="*/ 0 w 7886991"/>
              <a:gd name="connsiteY7" fmla="*/ 0 h 4975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6991" h="4975127">
                <a:moveTo>
                  <a:pt x="7886991" y="0"/>
                </a:moveTo>
                <a:lnTo>
                  <a:pt x="7886991" y="439703"/>
                </a:lnTo>
                <a:lnTo>
                  <a:pt x="7372495" y="439703"/>
                </a:lnTo>
                <a:lnTo>
                  <a:pt x="7372495" y="4975127"/>
                </a:lnTo>
                <a:lnTo>
                  <a:pt x="514495" y="4975127"/>
                </a:lnTo>
                <a:lnTo>
                  <a:pt x="514495" y="159287"/>
                </a:lnTo>
                <a:lnTo>
                  <a:pt x="0" y="15928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5812BC2-1117-44DF-BEC4-DA3763B9AE3E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08800" y="0"/>
            <a:ext cx="2895600" cy="6857999"/>
          </a:xfrm>
          <a:prstGeom prst="rect">
            <a:avLst/>
          </a:prstGeom>
        </p:spPr>
      </p:pic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C284C3B-27D8-42B0-927F-55218B35D330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89809BE-53FE-4ABE-97EF-0FEC1F1E990D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26E3B6F-42EA-4209-A4D0-23ADBA701ED9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F48614C-D2F1-4A5F-9AEC-1A66E833860F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41180CC7-99F5-41E8-A207-AC7562EA2F60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3399EBEA-97FF-4CBF-8BED-FAEDA705AD88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23F100BE-2251-4668-AC91-55E2814C2609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74AE3C-6CE6-407A-A1B1-8B2AAA1BD1FE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241240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512763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3322914-609B-4E08-98E9-3CEDB8C46811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667344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1028697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94A19648-DD44-44C8-B683-0311A2AEBA75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1E21EB2-53A1-47EF-A35A-9E8839398673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461CEEE9-F3F8-417B-9499-1EBD5B76741E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80D8AAFC-0838-4933-9251-26B1B5F950AD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772BA24-2CA0-4952-9840-BBD8BB1EF432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58E465A-A100-42BF-94F3-5FCEF86D0DBC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DB67526-3CA8-45E5-A773-C9C3F683BB94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91873E6-9523-4E8C-818B-F4E55DDED461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714BDC6-0435-BE27-0FED-7FAA9A86C2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B19EE2F-A7FB-40DD-B400-0BA302B483BF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416CE6B-2974-44DE-A7B0-F94502A227B0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6314AC0-17EE-A056-A312-DC697CB96C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5B6FB74-A158-45A4-8BF9-622926009448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207C47B-FF97-4B0D-A736-29D91E0D3CD1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506C553B-F633-02CA-1430-79ED3F76C36F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0369"/>
          <a:stretch/>
        </p:blipFill>
        <p:spPr>
          <a:xfrm rot="16200000">
            <a:off x="6057132" y="1216307"/>
            <a:ext cx="7844350" cy="4425386"/>
          </a:xfrm>
          <a:custGeom>
            <a:avLst/>
            <a:gdLst>
              <a:gd name="connsiteX0" fmla="*/ 7844350 w 7844350"/>
              <a:gd name="connsiteY0" fmla="*/ 0 h 4425386"/>
              <a:gd name="connsiteX1" fmla="*/ 7844350 w 7844350"/>
              <a:gd name="connsiteY1" fmla="*/ 120086 h 4425386"/>
              <a:gd name="connsiteX2" fmla="*/ 7351175 w 7844350"/>
              <a:gd name="connsiteY2" fmla="*/ 120086 h 4425386"/>
              <a:gd name="connsiteX3" fmla="*/ 7351175 w 7844350"/>
              <a:gd name="connsiteY3" fmla="*/ 4425386 h 4425386"/>
              <a:gd name="connsiteX4" fmla="*/ 493176 w 7844350"/>
              <a:gd name="connsiteY4" fmla="*/ 4425386 h 4425386"/>
              <a:gd name="connsiteX5" fmla="*/ 493176 w 7844350"/>
              <a:gd name="connsiteY5" fmla="*/ 120086 h 4425386"/>
              <a:gd name="connsiteX6" fmla="*/ 0 w 7844350"/>
              <a:gd name="connsiteY6" fmla="*/ 120086 h 4425386"/>
              <a:gd name="connsiteX7" fmla="*/ 0 w 7844350"/>
              <a:gd name="connsiteY7" fmla="*/ 0 h 442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4350" h="4425386">
                <a:moveTo>
                  <a:pt x="7844350" y="0"/>
                </a:moveTo>
                <a:lnTo>
                  <a:pt x="7844350" y="120086"/>
                </a:lnTo>
                <a:lnTo>
                  <a:pt x="7351175" y="120086"/>
                </a:lnTo>
                <a:lnTo>
                  <a:pt x="7351175" y="4425386"/>
                </a:lnTo>
                <a:lnTo>
                  <a:pt x="493176" y="4425386"/>
                </a:lnTo>
                <a:lnTo>
                  <a:pt x="493176" y="120086"/>
                </a:lnTo>
                <a:lnTo>
                  <a:pt x="0" y="12008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C4C8487-62F9-4BAC-800E-518181057217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EF7217FF-8C88-D49F-720B-61816BB41F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635"/>
          <a:stretch>
            <a:fillRect/>
          </a:stretch>
        </p:blipFill>
        <p:spPr>
          <a:xfrm rot="10800000">
            <a:off x="4457698" y="-1"/>
            <a:ext cx="7734302" cy="5572125"/>
          </a:xfrm>
          <a:custGeom>
            <a:avLst/>
            <a:gdLst>
              <a:gd name="connsiteX0" fmla="*/ 7734302 w 7734302"/>
              <a:gd name="connsiteY0" fmla="*/ 5572125 h 5572125"/>
              <a:gd name="connsiteX1" fmla="*/ 0 w 7734302"/>
              <a:gd name="connsiteY1" fmla="*/ 5572125 h 5572125"/>
              <a:gd name="connsiteX2" fmla="*/ 0 w 7734302"/>
              <a:gd name="connsiteY2" fmla="*/ 0 h 5572125"/>
              <a:gd name="connsiteX3" fmla="*/ 7734302 w 7734302"/>
              <a:gd name="connsiteY3" fmla="*/ 0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4302" h="5572125">
                <a:moveTo>
                  <a:pt x="7734302" y="5572125"/>
                </a:moveTo>
                <a:lnTo>
                  <a:pt x="0" y="5572125"/>
                </a:lnTo>
                <a:lnTo>
                  <a:pt x="0" y="0"/>
                </a:lnTo>
                <a:lnTo>
                  <a:pt x="7734302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A5BF5F0-19BD-43C4-913D-05858F831297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5" name="Graphic 10">
            <a:extLst>
              <a:ext uri="{FF2B5EF4-FFF2-40B4-BE49-F238E27FC236}">
                <a16:creationId xmlns:a16="http://schemas.microsoft.com/office/drawing/2014/main" id="{3FA490B3-BA2A-220F-6EA4-8DA088E69F45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7C7A75E-7545-95C0-23EB-76431010DAC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D9ECE8B-9D83-C24E-59FA-54B253418D9F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1ABC01C-5F71-E3C7-B08D-5D4B21AEA79A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F975E6E-9984-48EA-8BFB-6F3F206EF7A9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9C143F9C-CA51-6A3D-6038-55DBC067B4FD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0F346C8-75E7-EFD5-11A3-1FDB31BF24F1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DBE9E14-4424-E241-FDF8-85AA09573C18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AAEA66E-84C1-243A-2FAA-9684BEF1E8B1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DA376B0-7373-A672-75C0-6A9DD58A7E7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772" r="4772"/>
          <a:stretch/>
        </p:blipFill>
        <p:spPr>
          <a:xfrm rot="16200000">
            <a:off x="1828616" y="1985677"/>
            <a:ext cx="6858003" cy="2886641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3F2C37F-556E-406F-9458-21E81A583320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BBF98F45-4D7B-13A2-4B34-65E5083C5E3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5DFA883-E525-D03F-5DE8-910CE3CF20F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554B8CE-B78E-F35C-A8DF-50FEECBA2D5E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701AD00-4BFC-2E10-72A1-902DD99B64C2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3552A53-57A9-4123-A19D-AF6EF1D84AC7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57E57CC2-DCC5-8672-8C95-AFB9D8C26A07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C5EADB-B585-94E9-A617-73C56D71179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5E04FAA-E02A-9AF4-3C50-85A67ED8F6E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8145DD8-0A0B-A731-0582-A2F2FBB1F54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81C1C3-3BCD-6737-872A-E43678CDBB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7427776" y="1604866"/>
            <a:ext cx="5842800" cy="368564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A2B2E9-7A2E-EA50-CBBE-56D4A955C0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6400" y="623490"/>
            <a:ext cx="2159683" cy="5648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E1C7CCF-738D-5AA5-7E62-F47408B1E1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9600" y="624480"/>
            <a:ext cx="2149200" cy="5646421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983CE4-6A89-4BC4-9063-576D7731B37F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9" name="Graphic 10">
            <a:extLst>
              <a:ext uri="{FF2B5EF4-FFF2-40B4-BE49-F238E27FC236}">
                <a16:creationId xmlns:a16="http://schemas.microsoft.com/office/drawing/2014/main" id="{3C1594A3-4DC1-62AA-A006-B9A8B3730899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9A26693-DC12-E2C0-3445-E388E66D571B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CD578B-91E4-245A-672F-7EAF322558FA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5871F6A-F814-6E6B-BBA8-EEF6752600C1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92000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Picture Placeholder 22">
            <a:extLst>
              <a:ext uri="{FF2B5EF4-FFF2-40B4-BE49-F238E27FC236}">
                <a16:creationId xmlns:a16="http://schemas.microsoft.com/office/drawing/2014/main" id="{6DCDE9D4-B475-F9D0-1FC0-F25E79A6409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CF7FC78-DDAB-4243-9CCE-C903B9201449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E3A3DB3-3F3E-9E1D-4D82-D3A61E6966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4238293" y="2126818"/>
            <a:ext cx="6903349" cy="260980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7836F46-0818-6D94-A02D-96FEDE21A4D9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9F3360-0027-4857-9662-D3E751560510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DE188515-991E-1E96-BBEA-B1081967BEC3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8738046-82EE-4563-3C5D-9F8377C47A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B1C4AFE-6F80-C561-251A-FC5E7165034B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9920C01-2CDB-20F3-B636-FF067418E720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28C50E3-30E0-578B-06D1-F44116DB10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421892" y="1787410"/>
            <a:ext cx="5204806" cy="32832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063A626-3A96-7011-342D-0DD4422CFE6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3526"/>
          <a:stretch/>
        </p:blipFill>
        <p:spPr>
          <a:xfrm rot="5400000">
            <a:off x="8340234" y="3693405"/>
            <a:ext cx="1431956" cy="489723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5D436B6-1FD6-9F4B-F52D-042A47AC1CB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29E6737-1C28-472F-9E2A-5FCFBD3FC7B6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1" name="Graphic 10">
            <a:extLst>
              <a:ext uri="{FF2B5EF4-FFF2-40B4-BE49-F238E27FC236}">
                <a16:creationId xmlns:a16="http://schemas.microsoft.com/office/drawing/2014/main" id="{3B76C253-628F-9553-A266-8DAA5077A6D2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95BCF7D-B453-828F-9892-9AC16F22C592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8AA942-14AE-2ADC-8D2C-9EEDD7F38A96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F277AE3-CC3C-423E-3373-35824337120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316B8EE-66A0-4D2A-AF45-1EE4BCF5CEB4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6327"/>
            <a:ext cx="12192000" cy="6765346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80AFBC7-764D-4682-96CF-0C8AF7946CF9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F8D715B-DD2B-44D4-9ACB-211E977DB2A0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163841E5-F71C-A65C-0467-85C1386F5CC9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1493"/>
          <a:stretch>
            <a:fillRect/>
          </a:stretch>
        </p:blipFill>
        <p:spPr>
          <a:xfrm rot="16200000">
            <a:off x="6033971" y="1222092"/>
            <a:ext cx="7902247" cy="4413812"/>
          </a:xfrm>
          <a:custGeom>
            <a:avLst/>
            <a:gdLst>
              <a:gd name="connsiteX0" fmla="*/ 7902247 w 7902247"/>
              <a:gd name="connsiteY0" fmla="*/ 0 h 4413812"/>
              <a:gd name="connsiteX1" fmla="*/ 7902247 w 7902247"/>
              <a:gd name="connsiteY1" fmla="*/ 324412 h 4413812"/>
              <a:gd name="connsiteX2" fmla="*/ 7380122 w 7902247"/>
              <a:gd name="connsiteY2" fmla="*/ 324412 h 4413812"/>
              <a:gd name="connsiteX3" fmla="*/ 7380122 w 7902247"/>
              <a:gd name="connsiteY3" fmla="*/ 4413812 h 4413812"/>
              <a:gd name="connsiteX4" fmla="*/ 522122 w 7902247"/>
              <a:gd name="connsiteY4" fmla="*/ 4413812 h 4413812"/>
              <a:gd name="connsiteX5" fmla="*/ 522122 w 7902247"/>
              <a:gd name="connsiteY5" fmla="*/ 324412 h 4413812"/>
              <a:gd name="connsiteX6" fmla="*/ 0 w 7902247"/>
              <a:gd name="connsiteY6" fmla="*/ 324412 h 4413812"/>
              <a:gd name="connsiteX7" fmla="*/ 0 w 7902247"/>
              <a:gd name="connsiteY7" fmla="*/ 0 h 441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247" h="4413812">
                <a:moveTo>
                  <a:pt x="7902247" y="0"/>
                </a:moveTo>
                <a:lnTo>
                  <a:pt x="7902247" y="324412"/>
                </a:lnTo>
                <a:lnTo>
                  <a:pt x="7380122" y="324412"/>
                </a:lnTo>
                <a:lnTo>
                  <a:pt x="7380122" y="4413812"/>
                </a:lnTo>
                <a:lnTo>
                  <a:pt x="522122" y="4413812"/>
                </a:lnTo>
                <a:lnTo>
                  <a:pt x="522122" y="324412"/>
                </a:lnTo>
                <a:lnTo>
                  <a:pt x="0" y="324412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2BE8ABE-FDB1-4B95-A815-1C25EF26DC0C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DE57CD68-75B6-F13A-63EF-6346852222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10800000">
            <a:off x="4457698" y="8628"/>
            <a:ext cx="8839202" cy="5563497"/>
          </a:xfrm>
          <a:custGeom>
            <a:avLst/>
            <a:gdLst>
              <a:gd name="connsiteX0" fmla="*/ 8839202 w 8839202"/>
              <a:gd name="connsiteY0" fmla="*/ 5563497 h 5563497"/>
              <a:gd name="connsiteX1" fmla="*/ 1104900 w 8839202"/>
              <a:gd name="connsiteY1" fmla="*/ 5563497 h 5563497"/>
              <a:gd name="connsiteX2" fmla="*/ 1104900 w 8839202"/>
              <a:gd name="connsiteY2" fmla="*/ 619125 h 5563497"/>
              <a:gd name="connsiteX3" fmla="*/ 0 w 8839202"/>
              <a:gd name="connsiteY3" fmla="*/ 619125 h 5563497"/>
              <a:gd name="connsiteX4" fmla="*/ 0 w 8839202"/>
              <a:gd name="connsiteY4" fmla="*/ 0 h 5563497"/>
              <a:gd name="connsiteX5" fmla="*/ 8839202 w 8839202"/>
              <a:gd name="connsiteY5" fmla="*/ 0 h 5563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39202" h="5563497">
                <a:moveTo>
                  <a:pt x="8839202" y="5563497"/>
                </a:moveTo>
                <a:lnTo>
                  <a:pt x="1104900" y="5563497"/>
                </a:lnTo>
                <a:lnTo>
                  <a:pt x="1104900" y="619125"/>
                </a:lnTo>
                <a:lnTo>
                  <a:pt x="0" y="619125"/>
                </a:lnTo>
                <a:lnTo>
                  <a:pt x="0" y="0"/>
                </a:lnTo>
                <a:lnTo>
                  <a:pt x="8839202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1CE0209-A8C7-478F-AE71-C0DE1A68769A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3" name="Graphic 10">
            <a:extLst>
              <a:ext uri="{FF2B5EF4-FFF2-40B4-BE49-F238E27FC236}">
                <a16:creationId xmlns:a16="http://schemas.microsoft.com/office/drawing/2014/main" id="{44A32813-423B-8134-322B-5A2B5FDB1B2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546B831-1E36-13F1-8868-74DD4DB04824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96986BD-C4EC-0405-339A-FFF18706B35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EE5414C-4FAC-4204-FE6E-42D8391EA72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235EE27-552D-4277-A769-DD08257557A6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301D1E9F-E6B2-B5D1-1827-D053386286BB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E27AF2D-C6F7-243D-3C18-20E3BBEF16C4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5DCE53A-0262-D4D7-49A0-85D6C7AB042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DB6E514-5C22-7BC4-24A0-2203868D65D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05340" y="0"/>
            <a:ext cx="2895599" cy="6857999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5DFB45B-92CF-4D6C-86E5-D181C6809EAA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5" name="Graphic 10">
            <a:extLst>
              <a:ext uri="{FF2B5EF4-FFF2-40B4-BE49-F238E27FC236}">
                <a16:creationId xmlns:a16="http://schemas.microsoft.com/office/drawing/2014/main" id="{E8CF470B-72E0-D9D6-B1CB-241A3CD4D9B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AF8A1D8-D002-25D6-4C8C-666353B043AC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888F446-A2BD-0AED-5CF2-D74AB8FBF9D1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4D202D3-BBE0-80BF-E93E-F7FF3DCCF8D5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" b="105"/>
          <a:stretch/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257D039-91A4-4753-B9F5-8238926249CB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A7393BF6-5FD7-26E9-3157-41097A4D53B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54E33E5-A432-AA95-B687-BB3B41344A97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4EEA396-DCED-EAA4-6D63-E576E463432A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C7C38C9-8E3A-6350-A065-E8B91828B207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82CBFF4-CF28-D60B-0A8F-A1E291CBEF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9600" y="610953"/>
            <a:ext cx="2149200" cy="564642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EE2F46D-8983-466C-AC7D-7A1ABE9F6550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B788746E-BC0B-0FC7-9721-89C8559A6EC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675FDB64-3D0D-C816-CD72-B26E69E15BB9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C72694B-37FA-E963-DE94-AEBB46ED4951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2588CF9-1E9E-BF1B-4BAF-99411DDC6E6D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92000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82C58521-27CC-2140-D1FA-C88E80CAB59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F95E86C-603C-44F7-83F9-8134D6D95E0E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D7FD5E2B-04EF-C0A8-F6FF-07A1408208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4238291" y="2146774"/>
            <a:ext cx="6903353" cy="26098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DBA32B7-8BF2-4E84-29DF-12C340B1BE8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BA3B903-E368-4723-ADD7-D1583A4B4CB0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FAA310E7-1907-40FB-7FB3-07AC2764031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8C2D1F85-A62C-D889-D9A5-5612D3D7F7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C691A2A-AD2F-8B00-86DE-D2C56C08C600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5881590-E4DD-3058-9B02-DA61A00CFA86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607D464-2B65-AE03-D009-778361451B4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2" t="20195" r="2" b="253"/>
          <a:stretch/>
        </p:blipFill>
        <p:spPr>
          <a:xfrm rot="10800000">
            <a:off x="6675543" y="5426034"/>
            <a:ext cx="4761335" cy="143196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65613A-160D-F605-2B4E-32A0D3924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29111" y="1787400"/>
            <a:ext cx="5204805" cy="3283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F2CD620-B696-4F43-8B0A-A3FFACF6BDA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C7AA20-E1FA-45E2-9083-4F94E7F6210C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C06E3D14-4ECF-8D83-CA6B-9C0FD02F775F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C839208-3C04-8305-6D57-CDF245116F6B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5B6C7C9-8B51-8E54-1D8D-FDCDB0B9F59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BD6D133-3464-112B-7FA8-C09B3045EFA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65158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AB115C7D-5372-4BC4-87A3-D6F97EA9508D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459FB7-AC3A-4BBC-A5ED-BAEC199EB0EE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2546B5E-38BF-4B11-9DE9-FA81DA65D2F6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08212B4-749A-8762-8976-4E8AE15626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058"/>
          <a:stretch>
            <a:fillRect/>
          </a:stretch>
        </p:blipFill>
        <p:spPr>
          <a:xfrm rot="16200000">
            <a:off x="6155702" y="1216305"/>
            <a:ext cx="7647208" cy="4425388"/>
          </a:xfrm>
          <a:custGeom>
            <a:avLst/>
            <a:gdLst>
              <a:gd name="connsiteX0" fmla="*/ 7647208 w 7647208"/>
              <a:gd name="connsiteY0" fmla="*/ 0 h 4425388"/>
              <a:gd name="connsiteX1" fmla="*/ 7647208 w 7647208"/>
              <a:gd name="connsiteY1" fmla="*/ 1649393 h 4425388"/>
              <a:gd name="connsiteX2" fmla="*/ 7252603 w 7647208"/>
              <a:gd name="connsiteY2" fmla="*/ 1649393 h 4425388"/>
              <a:gd name="connsiteX3" fmla="*/ 7252603 w 7647208"/>
              <a:gd name="connsiteY3" fmla="*/ 4425388 h 4425388"/>
              <a:gd name="connsiteX4" fmla="*/ 394604 w 7647208"/>
              <a:gd name="connsiteY4" fmla="*/ 4425388 h 4425388"/>
              <a:gd name="connsiteX5" fmla="*/ 394604 w 7647208"/>
              <a:gd name="connsiteY5" fmla="*/ 1649393 h 4425388"/>
              <a:gd name="connsiteX6" fmla="*/ 0 w 7647208"/>
              <a:gd name="connsiteY6" fmla="*/ 1649393 h 4425388"/>
              <a:gd name="connsiteX7" fmla="*/ 0 w 7647208"/>
              <a:gd name="connsiteY7" fmla="*/ 0 h 4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7208" h="4425388">
                <a:moveTo>
                  <a:pt x="7647208" y="0"/>
                </a:moveTo>
                <a:lnTo>
                  <a:pt x="7647208" y="1649393"/>
                </a:lnTo>
                <a:lnTo>
                  <a:pt x="7252603" y="1649393"/>
                </a:lnTo>
                <a:lnTo>
                  <a:pt x="7252603" y="4425388"/>
                </a:lnTo>
                <a:lnTo>
                  <a:pt x="394604" y="4425388"/>
                </a:lnTo>
                <a:lnTo>
                  <a:pt x="394604" y="1649393"/>
                </a:lnTo>
                <a:lnTo>
                  <a:pt x="0" y="164939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E2768DA-3E4C-47DB-9D63-BFA383BAFA71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08212B4-749A-8762-8976-4E8AE15626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058"/>
          <a:stretch>
            <a:fillRect/>
          </a:stretch>
        </p:blipFill>
        <p:spPr>
          <a:xfrm rot="16200000">
            <a:off x="6155702" y="1216305"/>
            <a:ext cx="7647208" cy="4425388"/>
          </a:xfrm>
          <a:custGeom>
            <a:avLst/>
            <a:gdLst>
              <a:gd name="connsiteX0" fmla="*/ 7647208 w 7647208"/>
              <a:gd name="connsiteY0" fmla="*/ 0 h 4425388"/>
              <a:gd name="connsiteX1" fmla="*/ 7647208 w 7647208"/>
              <a:gd name="connsiteY1" fmla="*/ 1649393 h 4425388"/>
              <a:gd name="connsiteX2" fmla="*/ 7252603 w 7647208"/>
              <a:gd name="connsiteY2" fmla="*/ 1649393 h 4425388"/>
              <a:gd name="connsiteX3" fmla="*/ 7252603 w 7647208"/>
              <a:gd name="connsiteY3" fmla="*/ 4425388 h 4425388"/>
              <a:gd name="connsiteX4" fmla="*/ 394604 w 7647208"/>
              <a:gd name="connsiteY4" fmla="*/ 4425388 h 4425388"/>
              <a:gd name="connsiteX5" fmla="*/ 394604 w 7647208"/>
              <a:gd name="connsiteY5" fmla="*/ 1649393 h 4425388"/>
              <a:gd name="connsiteX6" fmla="*/ 0 w 7647208"/>
              <a:gd name="connsiteY6" fmla="*/ 1649393 h 4425388"/>
              <a:gd name="connsiteX7" fmla="*/ 0 w 7647208"/>
              <a:gd name="connsiteY7" fmla="*/ 0 h 4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7208" h="4425388">
                <a:moveTo>
                  <a:pt x="7647208" y="0"/>
                </a:moveTo>
                <a:lnTo>
                  <a:pt x="7647208" y="1649393"/>
                </a:lnTo>
                <a:lnTo>
                  <a:pt x="7252603" y="1649393"/>
                </a:lnTo>
                <a:lnTo>
                  <a:pt x="7252603" y="4425388"/>
                </a:lnTo>
                <a:lnTo>
                  <a:pt x="394604" y="4425388"/>
                </a:lnTo>
                <a:lnTo>
                  <a:pt x="394604" y="1649393"/>
                </a:lnTo>
                <a:lnTo>
                  <a:pt x="0" y="164939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3925793-77C6-4810-BD15-8AC450367699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773705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1856E72-A653-639F-F9E9-A775583AF7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500"/>
          <a:stretch>
            <a:fillRect/>
          </a:stretch>
        </p:blipFill>
        <p:spPr>
          <a:xfrm rot="10800000">
            <a:off x="4457697" y="8628"/>
            <a:ext cx="7734303" cy="5575783"/>
          </a:xfrm>
          <a:custGeom>
            <a:avLst/>
            <a:gdLst>
              <a:gd name="connsiteX0" fmla="*/ 7734303 w 7734303"/>
              <a:gd name="connsiteY0" fmla="*/ 5575783 h 5575783"/>
              <a:gd name="connsiteX1" fmla="*/ 0 w 7734303"/>
              <a:gd name="connsiteY1" fmla="*/ 5575783 h 5575783"/>
              <a:gd name="connsiteX2" fmla="*/ 0 w 7734303"/>
              <a:gd name="connsiteY2" fmla="*/ 0 h 5575783"/>
              <a:gd name="connsiteX3" fmla="*/ 7734303 w 7734303"/>
              <a:gd name="connsiteY3" fmla="*/ 0 h 557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4303" h="5575783">
                <a:moveTo>
                  <a:pt x="7734303" y="5575783"/>
                </a:moveTo>
                <a:lnTo>
                  <a:pt x="0" y="5575783"/>
                </a:lnTo>
                <a:lnTo>
                  <a:pt x="0" y="0"/>
                </a:lnTo>
                <a:lnTo>
                  <a:pt x="7734303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7F79B9-6C1F-41BF-B456-17ECB860694D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4" name="Graphic 10">
            <a:extLst>
              <a:ext uri="{FF2B5EF4-FFF2-40B4-BE49-F238E27FC236}">
                <a16:creationId xmlns:a16="http://schemas.microsoft.com/office/drawing/2014/main" id="{2D650DD3-F273-54B8-C9A7-86C7953C086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2FE4E17-9DD0-5842-FDCE-187F8E745051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3B4ACDB-0562-A531-BD0F-69A5D332EF5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DEEAC99-079F-B185-6068-5CF626F22FA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C0B730E-F41D-4473-A2C9-8CFF586046B6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806F2772-D190-40CB-8CDC-626490D882F4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D4EB287D-7C09-4132-A6A4-787A7D0EB2C1}" type="datetime4">
              <a:rPr lang="en-US" smtClean="0"/>
              <a:t>October 15, 2026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8" r:id="rId12"/>
    <p:sldLayoutId id="2147483903" r:id="rId13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7.emf"/><Relationship Id="rId5" Type="http://schemas.openxmlformats.org/officeDocument/2006/relationships/image" Target="../media/image96.emf"/><Relationship Id="rId4" Type="http://schemas.openxmlformats.org/officeDocument/2006/relationships/image" Target="../media/image9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1.png"/><Relationship Id="rId5" Type="http://schemas.openxmlformats.org/officeDocument/2006/relationships/image" Target="../media/image100.emf"/><Relationship Id="rId4" Type="http://schemas.openxmlformats.org/officeDocument/2006/relationships/image" Target="../media/image9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2.emf"/><Relationship Id="rId4" Type="http://schemas.openxmlformats.org/officeDocument/2006/relationships/image" Target="../media/image1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5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4.gif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9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5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34.jpe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emf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gif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jpeg"/><Relationship Id="rId1" Type="http://schemas.openxmlformats.org/officeDocument/2006/relationships/slideLayout" Target="../slideLayouts/slideLayout5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gif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5.png"/><Relationship Id="rId5" Type="http://schemas.openxmlformats.org/officeDocument/2006/relationships/image" Target="../media/image154.jpeg"/><Relationship Id="rId4" Type="http://schemas.openxmlformats.org/officeDocument/2006/relationships/image" Target="../media/image15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jpe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gi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3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jpe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1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jpeg"/><Relationship Id="rId2" Type="http://schemas.openxmlformats.org/officeDocument/2006/relationships/image" Target="../media/image173.jpeg"/><Relationship Id="rId1" Type="http://schemas.openxmlformats.org/officeDocument/2006/relationships/slideLayout" Target="../slideLayouts/slideLayout5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8.gif"/><Relationship Id="rId4" Type="http://schemas.openxmlformats.org/officeDocument/2006/relationships/image" Target="../media/image17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jpeg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2.gi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jpeg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7" Type="http://schemas.openxmlformats.org/officeDocument/2006/relationships/image" Target="../media/image19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jpeg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1E43C-91D9-5B8F-5E52-86B72F1C3A3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836495-1814-6229-5DF0-03CC7324B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58577" cy="6858000"/>
          </a:xfrm>
          <a:prstGeom prst="rect">
            <a:avLst/>
          </a:prstGeom>
        </p:spPr>
      </p:pic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D74FF8D0-F915-E985-A6F5-2179B440280C}"/>
              </a:ext>
            </a:extLst>
          </p:cNvPr>
          <p:cNvSpPr/>
          <p:nvPr/>
        </p:nvSpPr>
        <p:spPr>
          <a:xfrm>
            <a:off x="6242891" y="112326"/>
            <a:ext cx="5772839" cy="2478795"/>
          </a:xfrm>
          <a:prstGeom prst="cloudCallout">
            <a:avLst>
              <a:gd name="adj1" fmla="val -64917"/>
              <a:gd name="adj2" fmla="val 171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4400" dirty="0"/>
              <a:t>Last </a:t>
            </a:r>
            <a:r>
              <a:rPr lang="nl-BE" sz="4400" dirty="0" err="1"/>
              <a:t>Lesson</a:t>
            </a:r>
            <a:r>
              <a:rPr lang="nl-BE" sz="4400" dirty="0"/>
              <a:t>:</a:t>
            </a:r>
          </a:p>
          <a:p>
            <a:pPr algn="ctr"/>
            <a:r>
              <a:rPr lang="nl-BE" sz="4400" dirty="0"/>
              <a:t>Data </a:t>
            </a:r>
            <a:r>
              <a:rPr lang="nl-BE" sz="4400" dirty="0" err="1"/>
              <a:t>Realm</a:t>
            </a:r>
            <a:endParaRPr lang="nl-BE" sz="4400" dirty="0"/>
          </a:p>
        </p:txBody>
      </p:sp>
    </p:spTree>
    <p:extLst>
      <p:ext uri="{BB962C8B-B14F-4D97-AF65-F5344CB8AC3E}">
        <p14:creationId xmlns:p14="http://schemas.microsoft.com/office/powerpoint/2010/main" val="3562057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0E66-A2A0-95E6-AD98-204D1385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60286"/>
            <a:ext cx="11160125" cy="1116012"/>
          </a:xfrm>
        </p:spPr>
        <p:txBody>
          <a:bodyPr/>
          <a:lstStyle/>
          <a:p>
            <a:r>
              <a:rPr lang="en-US" dirty="0"/>
              <a:t>5 V’s of Big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F5104F-8E4D-696C-27A4-237846A004B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pic>
        <p:nvPicPr>
          <p:cNvPr id="5" name="Picture 2" descr="17 More Must-Know Data Science Interview Questions and Answers, Part 3 -  KDnuggets">
            <a:extLst>
              <a:ext uri="{FF2B5EF4-FFF2-40B4-BE49-F238E27FC236}">
                <a16:creationId xmlns:a16="http://schemas.microsoft.com/office/drawing/2014/main" id="{EF193487-F78B-9988-B9C2-FF7BC331C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64" y="1276297"/>
            <a:ext cx="10389870" cy="542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013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53518-8CCE-DBD1-1724-BC6C98F59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Horizontal (Out) – Vertical (Up) Scaling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06E6CC-E92F-E235-B0DF-A061D0B496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10580-8DC6-34B0-847B-DC05CEC0F39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Horizontal and Vertical Scaling - WebAiry">
            <a:extLst>
              <a:ext uri="{FF2B5EF4-FFF2-40B4-BE49-F238E27FC236}">
                <a16:creationId xmlns:a16="http://schemas.microsoft.com/office/drawing/2014/main" id="{260A05E2-3745-E6D2-3B48-C8F1D42B9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775"/>
            <a:ext cx="69532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134B86-7125-66EC-E801-1CA4F5764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212" y="1420431"/>
            <a:ext cx="4133850" cy="552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71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0BB4B-86EE-7DCD-03FE-431C87E7E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6" y="225531"/>
            <a:ext cx="11415330" cy="1116012"/>
          </a:xfrm>
        </p:spPr>
        <p:txBody>
          <a:bodyPr/>
          <a:lstStyle/>
          <a:p>
            <a:r>
              <a:rPr lang="nl-BE" dirty="0"/>
              <a:t>Distributed Resources: ‘Manager’ </a:t>
            </a:r>
            <a:r>
              <a:rPr lang="nl-BE" dirty="0" err="1"/>
              <a:t>needed</a:t>
            </a:r>
            <a:br>
              <a:rPr lang="nl-BE" dirty="0"/>
            </a:br>
            <a:r>
              <a:rPr lang="nl-BE" dirty="0"/>
              <a:t>Reverse Proxy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756955-7F49-D59D-E198-B58BB88A3FB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pic>
        <p:nvPicPr>
          <p:cNvPr id="2052" name="Picture 4" descr="What is a Reverse Proxy: Everything You Need to Know">
            <a:extLst>
              <a:ext uri="{FF2B5EF4-FFF2-40B4-BE49-F238E27FC236}">
                <a16:creationId xmlns:a16="http://schemas.microsoft.com/office/drawing/2014/main" id="{CF811D3F-A2B5-3887-F365-F95070A0F8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" t="5891" r="2721" b="8972"/>
          <a:stretch/>
        </p:blipFill>
        <p:spPr bwMode="auto">
          <a:xfrm>
            <a:off x="1259595" y="1542986"/>
            <a:ext cx="9672810" cy="520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62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4F44-0400-FC58-4167-DB621570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0"/>
            <a:ext cx="11160125" cy="1116012"/>
          </a:xfrm>
        </p:spPr>
        <p:txBody>
          <a:bodyPr/>
          <a:lstStyle/>
          <a:p>
            <a:r>
              <a:rPr lang="nl-BE" dirty="0" err="1"/>
              <a:t>Evolution</a:t>
            </a:r>
            <a:r>
              <a:rPr lang="nl-BE" dirty="0"/>
              <a:t> of Application </a:t>
            </a:r>
            <a:r>
              <a:rPr lang="nl-BE" dirty="0" err="1"/>
              <a:t>Architectures</a:t>
            </a:r>
            <a:r>
              <a:rPr lang="nl-BE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EFA614-6449-61EE-AE99-7217CA687CD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F3D07-ACEE-B8B1-C68D-C9520FDFAC6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028" name="Picture 4" descr="Transforming Monolithic Apps into Microservices: Key Steps and Best  Practices | Medium">
            <a:extLst>
              <a:ext uri="{FF2B5EF4-FFF2-40B4-BE49-F238E27FC236}">
                <a16:creationId xmlns:a16="http://schemas.microsoft.com/office/drawing/2014/main" id="{1E85C95F-8F1D-3136-8186-A3F7690C4A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8" t="6105" r="9707" b="7477"/>
          <a:stretch/>
        </p:blipFill>
        <p:spPr bwMode="auto">
          <a:xfrm>
            <a:off x="1569359" y="1015684"/>
            <a:ext cx="9053282" cy="561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758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6AE7-4FF6-3F27-A61A-3DA791A2A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"/>
            <a:ext cx="11160125" cy="1116012"/>
          </a:xfrm>
        </p:spPr>
        <p:txBody>
          <a:bodyPr/>
          <a:lstStyle/>
          <a:p>
            <a:r>
              <a:rPr lang="en-US" dirty="0"/>
              <a:t>Evolution of Data Architectures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17B8DA-A9E9-D6B7-4D2B-55D6E0BBDAB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33317-62D8-C57D-DE98-D9523EEB4AD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447" y="985849"/>
            <a:ext cx="2615998" cy="541621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nl-BE" b="1" i="0" dirty="0" err="1">
                <a:effectLst/>
                <a:latin typeface="+mj-lt"/>
              </a:rPr>
              <a:t>Hadoop</a:t>
            </a:r>
            <a:r>
              <a:rPr lang="nl-BE" b="1" i="0" dirty="0">
                <a:effectLst/>
                <a:latin typeface="+mj-lt"/>
              </a:rPr>
              <a:t> </a:t>
            </a:r>
            <a:r>
              <a:rPr lang="nl-BE" b="1" i="0" dirty="0" err="1">
                <a:effectLst/>
                <a:latin typeface="+mj-lt"/>
              </a:rPr>
              <a:t>and</a:t>
            </a:r>
            <a:r>
              <a:rPr lang="nl-BE" b="1" i="0" dirty="0">
                <a:effectLst/>
                <a:latin typeface="+mj-lt"/>
              </a:rPr>
              <a:t> </a:t>
            </a:r>
            <a:r>
              <a:rPr lang="nl-BE" b="1" i="0" dirty="0" err="1">
                <a:effectLst/>
                <a:latin typeface="+mj-lt"/>
              </a:rPr>
              <a:t>Spark</a:t>
            </a:r>
            <a:r>
              <a:rPr lang="nl-BE" b="0" i="0" dirty="0">
                <a:effectLst/>
                <a:latin typeface="+mj-lt"/>
              </a:rPr>
              <a:t> </a:t>
            </a:r>
          </a:p>
          <a:p>
            <a:pPr algn="l"/>
            <a:endParaRPr lang="nl-BE" dirty="0">
              <a:latin typeface="+mj-lt"/>
            </a:endParaRPr>
          </a:p>
          <a:p>
            <a:pPr algn="l"/>
            <a:r>
              <a:rPr lang="nl-BE" b="0" i="0" dirty="0">
                <a:effectLst/>
                <a:latin typeface="+mj-lt"/>
              </a:rPr>
              <a:t>On-</a:t>
            </a:r>
            <a:r>
              <a:rPr lang="nl-BE" b="0" i="0" dirty="0" err="1">
                <a:effectLst/>
                <a:latin typeface="+mj-lt"/>
              </a:rPr>
              <a:t>prem</a:t>
            </a:r>
            <a:r>
              <a:rPr lang="nl-BE" b="0" i="0" dirty="0">
                <a:effectLst/>
                <a:latin typeface="+mj-lt"/>
              </a:rPr>
              <a:t> or </a:t>
            </a:r>
            <a:r>
              <a:rPr lang="nl-BE" b="0" i="0" dirty="0" err="1">
                <a:effectLst/>
                <a:latin typeface="+mj-lt"/>
              </a:rPr>
              <a:t>cloud</a:t>
            </a:r>
            <a:r>
              <a:rPr lang="nl-BE" b="0" i="0" dirty="0">
                <a:effectLst/>
                <a:latin typeface="+mj-lt"/>
              </a:rPr>
              <a:t>, open-source, large-</a:t>
            </a:r>
            <a:r>
              <a:rPr lang="nl-BE" b="0" i="0" dirty="0" err="1">
                <a:effectLst/>
                <a:latin typeface="+mj-lt"/>
              </a:rPr>
              <a:t>scale</a:t>
            </a:r>
            <a:r>
              <a:rPr lang="nl-BE" b="0" i="0" dirty="0">
                <a:effectLst/>
                <a:latin typeface="+mj-lt"/>
              </a:rPr>
              <a:t> data processing </a:t>
            </a:r>
            <a:r>
              <a:rPr lang="nl-BE" b="0" i="0" dirty="0" err="1">
                <a:effectLst/>
                <a:latin typeface="+mj-lt"/>
              </a:rPr>
              <a:t>and</a:t>
            </a:r>
            <a:r>
              <a:rPr lang="nl-BE" b="0" i="0" dirty="0">
                <a:effectLst/>
                <a:latin typeface="+mj-lt"/>
              </a:rPr>
              <a:t> </a:t>
            </a:r>
            <a:r>
              <a:rPr lang="nl-BE" b="0" i="0" dirty="0" err="1">
                <a:effectLst/>
                <a:latin typeface="+mj-lt"/>
              </a:rPr>
              <a:t>analytics</a:t>
            </a:r>
            <a:r>
              <a:rPr lang="nl-BE" b="0" i="0" dirty="0">
                <a:effectLst/>
                <a:latin typeface="+mj-lt"/>
              </a:rPr>
              <a:t>.</a:t>
            </a:r>
          </a:p>
          <a:p>
            <a:pPr algn="l"/>
            <a:endParaRPr lang="nl-BE" b="0" i="0" dirty="0"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nl-BE" b="0" i="0" dirty="0">
              <a:effectLst/>
              <a:latin typeface="+mj-lt"/>
            </a:endParaRPr>
          </a:p>
          <a:p>
            <a:pPr algn="l"/>
            <a:r>
              <a:rPr lang="nl-BE" b="1" i="0" dirty="0">
                <a:effectLst/>
                <a:latin typeface="+mj-lt"/>
              </a:rPr>
              <a:t>Google </a:t>
            </a:r>
            <a:r>
              <a:rPr lang="nl-BE" b="1" i="0" dirty="0" err="1">
                <a:effectLst/>
                <a:latin typeface="+mj-lt"/>
              </a:rPr>
              <a:t>BigQuery</a:t>
            </a:r>
            <a:r>
              <a:rPr lang="nl-BE" b="1" i="0" dirty="0">
                <a:effectLst/>
                <a:latin typeface="+mj-lt"/>
              </a:rPr>
              <a:t>, </a:t>
            </a:r>
            <a:r>
              <a:rPr lang="nl-BE" b="1" i="0" dirty="0" err="1">
                <a:effectLst/>
                <a:latin typeface="+mj-lt"/>
              </a:rPr>
              <a:t>Snowflake</a:t>
            </a:r>
            <a:r>
              <a:rPr lang="nl-BE" b="1" i="0" dirty="0">
                <a:effectLst/>
                <a:latin typeface="+mj-lt"/>
              </a:rPr>
              <a:t>, </a:t>
            </a:r>
            <a:r>
              <a:rPr lang="nl-BE" b="1" i="0" dirty="0" err="1">
                <a:effectLst/>
                <a:latin typeface="+mj-lt"/>
              </a:rPr>
              <a:t>and</a:t>
            </a:r>
            <a:r>
              <a:rPr lang="nl-BE" b="1" i="0" dirty="0">
                <a:effectLst/>
                <a:latin typeface="+mj-lt"/>
              </a:rPr>
              <a:t> AWS Redshift</a:t>
            </a:r>
            <a:endParaRPr lang="nl-BE" b="0" i="0" dirty="0">
              <a:effectLst/>
              <a:latin typeface="+mj-lt"/>
            </a:endParaRPr>
          </a:p>
          <a:p>
            <a:pPr algn="l"/>
            <a:endParaRPr lang="nl-BE" b="0" i="0" dirty="0">
              <a:effectLst/>
              <a:latin typeface="+mj-lt"/>
            </a:endParaRPr>
          </a:p>
          <a:p>
            <a:pPr algn="l"/>
            <a:r>
              <a:rPr lang="nl-BE" b="0" i="0" dirty="0" err="1">
                <a:effectLst/>
                <a:latin typeface="+mj-lt"/>
              </a:rPr>
              <a:t>Ideal</a:t>
            </a:r>
            <a:r>
              <a:rPr lang="nl-BE" b="0" i="0" dirty="0">
                <a:effectLst/>
                <a:latin typeface="+mj-lt"/>
              </a:rPr>
              <a:t> </a:t>
            </a:r>
            <a:r>
              <a:rPr lang="nl-BE" b="0" i="0" dirty="0" err="1">
                <a:effectLst/>
                <a:latin typeface="+mj-lt"/>
              </a:rPr>
              <a:t>for</a:t>
            </a:r>
            <a:r>
              <a:rPr lang="nl-BE" b="0" i="0" dirty="0">
                <a:effectLst/>
                <a:latin typeface="+mj-lt"/>
              </a:rPr>
              <a:t> </a:t>
            </a:r>
            <a:r>
              <a:rPr lang="nl-BE" b="0" i="0" dirty="0" err="1">
                <a:effectLst/>
                <a:latin typeface="+mj-lt"/>
              </a:rPr>
              <a:t>cloud-based</a:t>
            </a:r>
            <a:r>
              <a:rPr lang="nl-BE" b="0" i="0" dirty="0">
                <a:effectLst/>
                <a:latin typeface="+mj-lt"/>
              </a:rPr>
              <a:t> data </a:t>
            </a:r>
            <a:r>
              <a:rPr lang="nl-BE" b="0" i="0" dirty="0" err="1">
                <a:effectLst/>
                <a:latin typeface="+mj-lt"/>
              </a:rPr>
              <a:t>warehousing</a:t>
            </a:r>
            <a:r>
              <a:rPr lang="nl-BE" b="0" i="0" dirty="0">
                <a:effectLst/>
                <a:latin typeface="+mj-lt"/>
              </a:rPr>
              <a:t> </a:t>
            </a:r>
            <a:r>
              <a:rPr lang="nl-BE" b="0" i="0" dirty="0" err="1">
                <a:effectLst/>
                <a:latin typeface="+mj-lt"/>
              </a:rPr>
              <a:t>and</a:t>
            </a:r>
            <a:r>
              <a:rPr lang="nl-BE" b="0" i="0" dirty="0">
                <a:effectLst/>
                <a:latin typeface="+mj-lt"/>
              </a:rPr>
              <a:t> high-performance </a:t>
            </a:r>
            <a:r>
              <a:rPr lang="nl-BE" b="0" i="0" dirty="0" err="1">
                <a:effectLst/>
                <a:latin typeface="+mj-lt"/>
              </a:rPr>
              <a:t>analytics</a:t>
            </a:r>
            <a:endParaRPr lang="nl-BE" b="0" i="0" dirty="0"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nl-BE" b="0" i="0" dirty="0">
              <a:effectLst/>
              <a:latin typeface="+mj-lt"/>
            </a:endParaRPr>
          </a:p>
          <a:p>
            <a:pPr algn="l"/>
            <a:endParaRPr lang="nl-BE" b="0" i="0" dirty="0">
              <a:effectLst/>
              <a:latin typeface="+mj-lt"/>
            </a:endParaRPr>
          </a:p>
          <a:p>
            <a:pPr algn="l"/>
            <a:endParaRPr lang="nl-BE" b="1" i="0" dirty="0">
              <a:effectLst/>
              <a:latin typeface="+mj-lt"/>
            </a:endParaRPr>
          </a:p>
          <a:p>
            <a:pPr algn="l"/>
            <a:r>
              <a:rPr lang="nl-BE" b="1" i="0" dirty="0">
                <a:effectLst/>
                <a:latin typeface="+mj-lt"/>
              </a:rPr>
              <a:t>Microsoft </a:t>
            </a:r>
            <a:r>
              <a:rPr lang="nl-BE" b="1" i="0" dirty="0" err="1">
                <a:effectLst/>
                <a:latin typeface="+mj-lt"/>
              </a:rPr>
              <a:t>Fabric</a:t>
            </a:r>
            <a:r>
              <a:rPr lang="nl-BE" b="1" i="0" dirty="0">
                <a:effectLst/>
                <a:latin typeface="+mj-lt"/>
              </a:rPr>
              <a:t> </a:t>
            </a:r>
            <a:r>
              <a:rPr lang="nl-BE" b="1" i="0" dirty="0" err="1">
                <a:effectLst/>
                <a:latin typeface="+mj-lt"/>
              </a:rPr>
              <a:t>and</a:t>
            </a:r>
            <a:r>
              <a:rPr lang="nl-BE" b="1" i="0" dirty="0">
                <a:effectLst/>
                <a:latin typeface="+mj-lt"/>
              </a:rPr>
              <a:t> AWS Lake </a:t>
            </a:r>
            <a:r>
              <a:rPr lang="nl-BE" b="1" i="0" dirty="0" err="1">
                <a:effectLst/>
                <a:latin typeface="+mj-lt"/>
              </a:rPr>
              <a:t>Formation</a:t>
            </a:r>
            <a:endParaRPr lang="nl-BE" b="0" i="0" dirty="0">
              <a:effectLst/>
              <a:latin typeface="+mj-lt"/>
            </a:endParaRPr>
          </a:p>
          <a:p>
            <a:pPr algn="l"/>
            <a:endParaRPr lang="nl-BE" dirty="0">
              <a:latin typeface="+mj-lt"/>
            </a:endParaRPr>
          </a:p>
          <a:p>
            <a:pPr algn="l"/>
            <a:r>
              <a:rPr lang="nl-BE" b="0" i="0" dirty="0">
                <a:effectLst/>
                <a:latin typeface="+mj-lt"/>
              </a:rPr>
              <a:t>Comprehensive platforms </a:t>
            </a:r>
            <a:r>
              <a:rPr lang="nl-BE" b="0" i="0" dirty="0" err="1">
                <a:effectLst/>
                <a:latin typeface="+mj-lt"/>
              </a:rPr>
              <a:t>for</a:t>
            </a:r>
            <a:r>
              <a:rPr lang="nl-BE" b="0" i="0" dirty="0">
                <a:effectLst/>
                <a:latin typeface="+mj-lt"/>
              </a:rPr>
              <a:t> end-</a:t>
            </a:r>
            <a:r>
              <a:rPr lang="nl-BE" b="0" i="0" dirty="0" err="1">
                <a:effectLst/>
                <a:latin typeface="+mj-lt"/>
              </a:rPr>
              <a:t>to</a:t>
            </a:r>
            <a:r>
              <a:rPr lang="nl-BE" b="0" i="0" dirty="0">
                <a:effectLst/>
                <a:latin typeface="+mj-lt"/>
              </a:rPr>
              <a:t>-end data management </a:t>
            </a:r>
            <a:r>
              <a:rPr lang="nl-BE" b="0" i="0" dirty="0" err="1">
                <a:effectLst/>
                <a:latin typeface="+mj-lt"/>
              </a:rPr>
              <a:t>and</a:t>
            </a:r>
            <a:r>
              <a:rPr lang="nl-BE" b="0" i="0" dirty="0">
                <a:effectLst/>
                <a:latin typeface="+mj-lt"/>
              </a:rPr>
              <a:t> </a:t>
            </a:r>
            <a:r>
              <a:rPr lang="nl-BE" b="0" i="0" dirty="0" err="1">
                <a:effectLst/>
                <a:latin typeface="+mj-lt"/>
              </a:rPr>
              <a:t>analytics</a:t>
            </a:r>
            <a:r>
              <a:rPr lang="nl-BE" b="0" i="0" dirty="0">
                <a:effectLst/>
                <a:latin typeface="+mj-lt"/>
              </a:rPr>
              <a:t>.</a:t>
            </a:r>
          </a:p>
          <a:p>
            <a:endParaRPr lang="en-US" dirty="0"/>
          </a:p>
        </p:txBody>
      </p:sp>
      <p:pic>
        <p:nvPicPr>
          <p:cNvPr id="5" name="Picture 2" descr="Data Warehouse vs. Data Lake vs. Data Lakehouse vs. Data Mesh">
            <a:extLst>
              <a:ext uri="{FF2B5EF4-FFF2-40B4-BE49-F238E27FC236}">
                <a16:creationId xmlns:a16="http://schemas.microsoft.com/office/drawing/2014/main" id="{28F5C958-70E1-F277-9353-4EFEB3628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707" y="792427"/>
            <a:ext cx="9314293" cy="523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53A20425-F933-0C7C-4E06-D9309C72F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513" y="5961329"/>
            <a:ext cx="1703070" cy="44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43B0A0A-2AB8-32DB-A41E-3DE447CBA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320" y="6345238"/>
            <a:ext cx="973456" cy="50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BigQuery VS Snowflake VS Redshift: 5 Major Differences">
            <a:extLst>
              <a:ext uri="{FF2B5EF4-FFF2-40B4-BE49-F238E27FC236}">
                <a16:creationId xmlns:a16="http://schemas.microsoft.com/office/drawing/2014/main" id="{5F6B539B-9C60-1677-1C7D-DA493C17F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" t="26613" r="4056" b="31194"/>
          <a:stretch/>
        </p:blipFill>
        <p:spPr bwMode="auto">
          <a:xfrm>
            <a:off x="6143544" y="6100436"/>
            <a:ext cx="2633031" cy="66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WS Lake Formation | CloudBank">
            <a:extLst>
              <a:ext uri="{FF2B5EF4-FFF2-40B4-BE49-F238E27FC236}">
                <a16:creationId xmlns:a16="http://schemas.microsoft.com/office/drawing/2014/main" id="{44688909-2937-62C4-3076-001314EDDF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2" t="13592" r="8642" b="17536"/>
          <a:stretch/>
        </p:blipFill>
        <p:spPr bwMode="auto">
          <a:xfrm>
            <a:off x="9377035" y="6069467"/>
            <a:ext cx="822766" cy="680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icrosoft Fabric: Revolutionizing Data Management | Medium">
            <a:extLst>
              <a:ext uri="{FF2B5EF4-FFF2-40B4-BE49-F238E27FC236}">
                <a16:creationId xmlns:a16="http://schemas.microsoft.com/office/drawing/2014/main" id="{3BE6DD7D-D6FF-BEB3-CBCB-A0D2EE310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0" t="33092" r="17139" b="19555"/>
          <a:stretch/>
        </p:blipFill>
        <p:spPr bwMode="auto">
          <a:xfrm>
            <a:off x="10199801" y="6044300"/>
            <a:ext cx="1476261" cy="6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3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7FB6-17BD-7045-5B46-CB0EF3D2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6" y="0"/>
            <a:ext cx="11160125" cy="1116012"/>
          </a:xfrm>
        </p:spPr>
        <p:txBody>
          <a:bodyPr/>
          <a:lstStyle/>
          <a:p>
            <a:r>
              <a:rPr lang="nl-BE" dirty="0" err="1"/>
              <a:t>Trustworthy</a:t>
            </a:r>
            <a:r>
              <a:rPr lang="nl-BE" dirty="0"/>
              <a:t> AI &amp; </a:t>
            </a:r>
            <a:r>
              <a:rPr lang="nl-BE" dirty="0" err="1"/>
              <a:t>Ethics</a:t>
            </a:r>
            <a:endParaRPr lang="nl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74DE24-160F-D97F-4DE9-03225792CB9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D8F0F-2B23-0045-8485-30CFF38E990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95231F6-7334-0507-9555-8C0C3BFEE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00" y="1299990"/>
            <a:ext cx="10126599" cy="544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473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706-1C9E-1C4F-B9F0-10A14760EE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66B98C-C4D8-05F5-9F65-88857690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5EF63-96B8-BBC7-F6C7-AD1D0CA244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Advanced Deep Learning</a:t>
            </a:r>
          </a:p>
        </p:txBody>
      </p:sp>
    </p:spTree>
    <p:extLst>
      <p:ext uri="{BB962C8B-B14F-4D97-AF65-F5344CB8AC3E}">
        <p14:creationId xmlns:p14="http://schemas.microsoft.com/office/powerpoint/2010/main" val="3616312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D6DE-AADC-5473-D58E-11EDD840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Goals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D6E52-0EA3-230D-4717-D6AADB68D63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9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F9D7B-3F2A-67D6-D6AA-B56D421D50C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"/>
            </a:pPr>
            <a:r>
              <a:rPr lang="en-US" dirty="0">
                <a:latin typeface="Aptos Light" panose="020B0004020202020204" pitchFamily="34" charset="0"/>
              </a:rPr>
              <a:t>Students can explain the general components and </a:t>
            </a:r>
            <a:r>
              <a:rPr lang="en-US" b="1" dirty="0">
                <a:latin typeface="Aptos Light" panose="020B0004020202020204" pitchFamily="34" charset="0"/>
              </a:rPr>
              <a:t>working principles</a:t>
            </a:r>
            <a:r>
              <a:rPr lang="en-US" dirty="0">
                <a:latin typeface="Aptos Light" panose="020B0004020202020204" pitchFamily="34" charset="0"/>
              </a:rPr>
              <a:t> of a neural network</a:t>
            </a:r>
          </a:p>
          <a:p>
            <a:pPr marL="342900" indent="-342900">
              <a:buFont typeface="Wingdings" panose="05000000000000000000" pitchFamily="2" charset="2"/>
              <a:buChar char=""/>
            </a:pPr>
            <a:endParaRPr lang="en-US" dirty="0">
              <a:latin typeface="Aptos Light" panose="020B00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"/>
            </a:pPr>
            <a:r>
              <a:rPr lang="en-US" dirty="0">
                <a:latin typeface="Aptos Light" panose="020B0004020202020204" pitchFamily="34" charset="0"/>
              </a:rPr>
              <a:t>Students gain a deeper understanding of the DL learning process, by grasping</a:t>
            </a:r>
          </a:p>
          <a:p>
            <a:pPr marL="1062900" lvl="2" indent="-342900">
              <a:buFont typeface="Wingdings" panose="05000000000000000000" pitchFamily="2" charset="2"/>
              <a:buChar char=""/>
            </a:pPr>
            <a:r>
              <a:rPr lang="en-US" dirty="0">
                <a:latin typeface="Aptos Light" panose="020B0004020202020204" pitchFamily="34" charset="0"/>
              </a:rPr>
              <a:t>The role of the </a:t>
            </a:r>
            <a:r>
              <a:rPr lang="en-US" b="1" dirty="0">
                <a:latin typeface="Aptos Light" panose="020B0004020202020204" pitchFamily="34" charset="0"/>
              </a:rPr>
              <a:t>learning rate</a:t>
            </a:r>
            <a:r>
              <a:rPr lang="en-US" dirty="0">
                <a:latin typeface="Aptos Light" panose="020B0004020202020204" pitchFamily="34" charset="0"/>
              </a:rPr>
              <a:t> and </a:t>
            </a:r>
            <a:r>
              <a:rPr lang="en-US" b="1" dirty="0">
                <a:latin typeface="Aptos Light" panose="020B0004020202020204" pitchFamily="34" charset="0"/>
              </a:rPr>
              <a:t>activation</a:t>
            </a:r>
            <a:r>
              <a:rPr lang="en-US" dirty="0">
                <a:latin typeface="Aptos Light" panose="020B0004020202020204" pitchFamily="34" charset="0"/>
              </a:rPr>
              <a:t> functions</a:t>
            </a:r>
          </a:p>
          <a:p>
            <a:pPr marL="1062900" lvl="2" indent="-342900">
              <a:buFont typeface="Wingdings" panose="05000000000000000000" pitchFamily="2" charset="2"/>
              <a:buChar char=""/>
            </a:pPr>
            <a:r>
              <a:rPr lang="en-US" dirty="0">
                <a:latin typeface="Aptos Light" panose="020B0004020202020204" pitchFamily="34" charset="0"/>
              </a:rPr>
              <a:t>The difficulties of complex </a:t>
            </a:r>
            <a:r>
              <a:rPr lang="en-US" b="1" dirty="0">
                <a:latin typeface="Aptos Light" panose="020B0004020202020204" pitchFamily="34" charset="0"/>
              </a:rPr>
              <a:t>loss landscapes</a:t>
            </a:r>
            <a:r>
              <a:rPr lang="en-US" dirty="0">
                <a:latin typeface="Aptos Light" panose="020B0004020202020204" pitchFamily="34" charset="0"/>
              </a:rPr>
              <a:t>, and how to mitigate them</a:t>
            </a:r>
          </a:p>
          <a:p>
            <a:pPr marL="1062900" lvl="2" indent="-342900">
              <a:buFont typeface="Wingdings" panose="05000000000000000000" pitchFamily="2" charset="2"/>
              <a:buChar char=""/>
            </a:pPr>
            <a:r>
              <a:rPr lang="en-US" dirty="0">
                <a:latin typeface="Aptos Light" panose="020B0004020202020204" pitchFamily="34" charset="0"/>
              </a:rPr>
              <a:t>The role of </a:t>
            </a:r>
            <a:r>
              <a:rPr lang="en-US" b="1" dirty="0">
                <a:latin typeface="Aptos Light" panose="020B0004020202020204" pitchFamily="34" charset="0"/>
              </a:rPr>
              <a:t>regularization techniques</a:t>
            </a:r>
            <a:r>
              <a:rPr lang="en-US" dirty="0">
                <a:latin typeface="Aptos Light" panose="020B0004020202020204" pitchFamily="34" charset="0"/>
              </a:rPr>
              <a:t> (early stopping, weight decay, dropout, ensemble models, data augmentation, batch normalization)</a:t>
            </a:r>
          </a:p>
          <a:p>
            <a:pPr lvl="2" indent="0">
              <a:buNone/>
            </a:pPr>
            <a:endParaRPr lang="en-US" dirty="0">
              <a:latin typeface="Aptos Light" panose="020B00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"/>
            </a:pPr>
            <a:r>
              <a:rPr lang="en-US" dirty="0">
                <a:latin typeface="Aptos Light" panose="020B0004020202020204" pitchFamily="34" charset="0"/>
              </a:rPr>
              <a:t>Students can explain the </a:t>
            </a:r>
            <a:r>
              <a:rPr lang="en-US" b="1" dirty="0">
                <a:latin typeface="Aptos Light" panose="020B0004020202020204" pitchFamily="34" charset="0"/>
              </a:rPr>
              <a:t>purpose, and core architecture</a:t>
            </a:r>
            <a:r>
              <a:rPr lang="en-US" dirty="0">
                <a:latin typeface="Aptos Light" panose="020B0004020202020204" pitchFamily="34" charset="0"/>
              </a:rPr>
              <a:t>, of several different major </a:t>
            </a:r>
            <a:r>
              <a:rPr lang="en-US" b="1" dirty="0">
                <a:latin typeface="Aptos Light" panose="020B0004020202020204" pitchFamily="34" charset="0"/>
              </a:rPr>
              <a:t>neural network types</a:t>
            </a:r>
          </a:p>
          <a:p>
            <a:pPr marL="342900" indent="-342900">
              <a:buFont typeface="Wingdings" panose="05000000000000000000" pitchFamily="2" charset="2"/>
              <a:buChar char=""/>
            </a:pPr>
            <a:endParaRPr lang="en-US" dirty="0">
              <a:latin typeface="Aptos Light" panose="020B0004020202020204" pitchFamily="34" charset="0"/>
            </a:endParaRPr>
          </a:p>
        </p:txBody>
      </p:sp>
      <p:pic>
        <p:nvPicPr>
          <p:cNvPr id="6" name="Picture 2" descr="Download Free png Parent Tips] Goal Setting with Your Child | Edmentum Blog  - DLPNG.com">
            <a:extLst>
              <a:ext uri="{FF2B5EF4-FFF2-40B4-BE49-F238E27FC236}">
                <a16:creationId xmlns:a16="http://schemas.microsoft.com/office/drawing/2014/main" id="{CCE443B0-08CE-1A46-58E8-25706A2364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7" t="-400" r="15488" b="-400"/>
          <a:stretch/>
        </p:blipFill>
        <p:spPr bwMode="auto">
          <a:xfrm>
            <a:off x="10262901" y="0"/>
            <a:ext cx="1913408" cy="170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04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1E43C-91D9-5B8F-5E52-86B72F1C3A3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10</a:t>
            </a:fld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836495-1814-6229-5DF0-03CC7324B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58577" cy="6858000"/>
          </a:xfrm>
          <a:prstGeom prst="rect">
            <a:avLst/>
          </a:prstGeom>
        </p:spPr>
      </p:pic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D74FF8D0-F915-E985-A6F5-2179B440280C}"/>
              </a:ext>
            </a:extLst>
          </p:cNvPr>
          <p:cNvSpPr/>
          <p:nvPr/>
        </p:nvSpPr>
        <p:spPr>
          <a:xfrm>
            <a:off x="6242891" y="112326"/>
            <a:ext cx="5772839" cy="2478795"/>
          </a:xfrm>
          <a:prstGeom prst="cloudCallout">
            <a:avLst>
              <a:gd name="adj1" fmla="val -64917"/>
              <a:gd name="adj2" fmla="val 171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4400" dirty="0" err="1"/>
              <a:t>Neural</a:t>
            </a:r>
            <a:r>
              <a:rPr lang="nl-BE" sz="4400" dirty="0"/>
              <a:t> Networks</a:t>
            </a:r>
          </a:p>
        </p:txBody>
      </p:sp>
    </p:spTree>
    <p:extLst>
      <p:ext uri="{BB962C8B-B14F-4D97-AF65-F5344CB8AC3E}">
        <p14:creationId xmlns:p14="http://schemas.microsoft.com/office/powerpoint/2010/main" val="4036892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DC2B-C3C6-BDC7-A21F-27F54D17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&gt; ML &gt; DL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A81D0A-248B-6B46-1E7E-742AAD8EE70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11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FE742-6B2B-7D8D-9484-B7D1D054F54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799CD-5B5B-475F-778D-AEAB989DD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132" y="2108754"/>
            <a:ext cx="5454128" cy="2640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harmacovigilance | Drug Safety | Safety Assessments | Regulatory Affairs |  Medical Information">
            <a:extLst>
              <a:ext uri="{FF2B5EF4-FFF2-40B4-BE49-F238E27FC236}">
                <a16:creationId xmlns:a16="http://schemas.microsoft.com/office/drawing/2014/main" id="{72F20B6A-CEF4-99AD-BE0F-22D849990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" y="2290318"/>
            <a:ext cx="6720451" cy="2277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96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3096-9B31-4283-BAB9-E3D77C05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Deep Learning better with Big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AB4073-EE70-36F9-225C-DBAB47B1FDA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12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E96C2-45B9-13F3-2187-F9B4081428A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Enabling Ubiquitous Visual Intelligence Through Deep Learning,&quot; a Ke…">
            <a:extLst>
              <a:ext uri="{FF2B5EF4-FFF2-40B4-BE49-F238E27FC236}">
                <a16:creationId xmlns:a16="http://schemas.microsoft.com/office/drawing/2014/main" id="{97A3E602-1748-566A-E63B-F4CE366F2C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" t="17790" r="13267" b="4528"/>
          <a:stretch/>
        </p:blipFill>
        <p:spPr bwMode="auto">
          <a:xfrm>
            <a:off x="1831134" y="1602748"/>
            <a:ext cx="8529732" cy="514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3472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3CD6F-3107-B354-495D-5B7B00906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Machine Learning = Data Driven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AF0036-2C19-CC2A-450E-77114CAC4AA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58E8C-DF60-159A-AA25-3B13E217E1F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oogle Shape;72;p16">
            <a:extLst>
              <a:ext uri="{FF2B5EF4-FFF2-40B4-BE49-F238E27FC236}">
                <a16:creationId xmlns:a16="http://schemas.microsoft.com/office/drawing/2014/main" id="{94E1F227-B21A-A669-A828-5F5E3D5CA1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9272"/>
          <a:stretch/>
        </p:blipFill>
        <p:spPr>
          <a:xfrm>
            <a:off x="1022387" y="1250240"/>
            <a:ext cx="10147224" cy="5607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2562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4F3BF-0E47-9FCD-7303-245632CE8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(High Level) </a:t>
            </a:r>
            <a:r>
              <a:rPr lang="en-US"/>
              <a:t>ML Pipeline versus DL Pipeline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C9C581-10A2-2C91-3001-8085202A238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14</a:t>
            </a:fld>
            <a:endParaRPr lang="en-BE"/>
          </a:p>
        </p:txBody>
      </p:sp>
      <p:pic>
        <p:nvPicPr>
          <p:cNvPr id="5" name="Google Shape;78;p17">
            <a:extLst>
              <a:ext uri="{FF2B5EF4-FFF2-40B4-BE49-F238E27FC236}">
                <a16:creationId xmlns:a16="http://schemas.microsoft.com/office/drawing/2014/main" id="{39AF523C-954B-9903-C681-4BF4F07E15C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21" y="3115509"/>
            <a:ext cx="3417086" cy="1142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3;p21">
            <a:extLst>
              <a:ext uri="{FF2B5EF4-FFF2-40B4-BE49-F238E27FC236}">
                <a16:creationId xmlns:a16="http://schemas.microsoft.com/office/drawing/2014/main" id="{1BBAA6CC-BDE6-4C1C-0209-EBB2A2ADA06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0855" y="2082971"/>
            <a:ext cx="5765207" cy="3024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4;p21">
            <a:extLst>
              <a:ext uri="{FF2B5EF4-FFF2-40B4-BE49-F238E27FC236}">
                <a16:creationId xmlns:a16="http://schemas.microsoft.com/office/drawing/2014/main" id="{F30E54B1-11DC-4395-4F41-B2CF3D50B79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6673" y="5452515"/>
            <a:ext cx="3240360" cy="106188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625836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0973F-CC3E-EBC1-3D0B-9EF4A97F1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FDD363-33EB-EF6C-EB1D-9B13125934C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29B14-0747-A4B3-D51B-A928B2971AC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The Hidden Magic of LATENT Ideas – The Improvisation School">
            <a:extLst>
              <a:ext uri="{FF2B5EF4-FFF2-40B4-BE49-F238E27FC236}">
                <a16:creationId xmlns:a16="http://schemas.microsoft.com/office/drawing/2014/main" id="{B57E92FC-B647-AB77-D802-5805CCD2B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773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4C84-5314-8732-E2C7-EC2D40CA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Latent Space in Deep Learning | Baeldung on Computer Science">
            <a:extLst>
              <a:ext uri="{FF2B5EF4-FFF2-40B4-BE49-F238E27FC236}">
                <a16:creationId xmlns:a16="http://schemas.microsoft.com/office/drawing/2014/main" id="{E772882A-195F-86C5-573E-201A092B0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50" y="3612816"/>
            <a:ext cx="10783079" cy="3232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4204C8-B47D-C787-D050-39471A02C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238317"/>
            <a:ext cx="11160125" cy="1116012"/>
          </a:xfrm>
        </p:spPr>
        <p:txBody>
          <a:bodyPr/>
          <a:lstStyle/>
          <a:p>
            <a:r>
              <a:rPr lang="en-US" dirty="0"/>
              <a:t>Latent Space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645180-6AFF-870C-F26F-1A4FE924082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16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BD608-DEC0-8698-4E1A-F14A68B9BEC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334485"/>
            <a:ext cx="11635410" cy="5034231"/>
          </a:xfrm>
        </p:spPr>
        <p:txBody>
          <a:bodyPr/>
          <a:lstStyle/>
          <a:p>
            <a:r>
              <a:rPr lang="en-US" sz="3200" b="1" dirty="0">
                <a:highlight>
                  <a:srgbClr val="FA6432"/>
                </a:highlight>
                <a:latin typeface="+mj-lt"/>
              </a:rPr>
              <a:t>Latent</a:t>
            </a:r>
            <a:r>
              <a:rPr lang="en-US" sz="3200" dirty="0">
                <a:latin typeface="+mj-lt"/>
              </a:rPr>
              <a:t>:</a:t>
            </a:r>
            <a:r>
              <a:rPr lang="en-US" dirty="0">
                <a:latin typeface="+mj-lt"/>
              </a:rPr>
              <a:t> </a:t>
            </a:r>
          </a:p>
          <a:p>
            <a:r>
              <a:rPr lang="en-US" dirty="0">
                <a:latin typeface="+mj-lt"/>
              </a:rPr>
              <a:t>	something hidden. Present, but not directly observable.</a:t>
            </a:r>
          </a:p>
          <a:p>
            <a:endParaRPr lang="en-US" dirty="0">
              <a:latin typeface="+mj-lt"/>
            </a:endParaRPr>
          </a:p>
          <a:p>
            <a:r>
              <a:rPr lang="en-US" sz="3200" b="1" dirty="0">
                <a:highlight>
                  <a:srgbClr val="FA6432"/>
                </a:highlight>
                <a:latin typeface="+mj-lt"/>
              </a:rPr>
              <a:t>Latent space</a:t>
            </a:r>
            <a:r>
              <a:rPr lang="en-US" sz="3200" dirty="0">
                <a:latin typeface="+mj-lt"/>
              </a:rPr>
              <a:t>: </a:t>
            </a:r>
          </a:p>
          <a:p>
            <a:r>
              <a:rPr lang="en-US" sz="3200" dirty="0">
                <a:latin typeface="+mj-lt"/>
              </a:rPr>
              <a:t>	</a:t>
            </a:r>
            <a:r>
              <a:rPr lang="en-US" dirty="0">
                <a:latin typeface="+mj-lt"/>
              </a:rPr>
              <a:t>compressed encoding (representation) of data in multi-dimensional 	space</a:t>
            </a:r>
          </a:p>
        </p:txBody>
      </p:sp>
    </p:spTree>
    <p:extLst>
      <p:ext uri="{BB962C8B-B14F-4D97-AF65-F5344CB8AC3E}">
        <p14:creationId xmlns:p14="http://schemas.microsoft.com/office/powerpoint/2010/main" val="3118081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2683-7FA7-D5F8-D737-F633B12E0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6" y="0"/>
            <a:ext cx="11160125" cy="1116012"/>
          </a:xfrm>
        </p:spPr>
        <p:txBody>
          <a:bodyPr/>
          <a:lstStyle/>
          <a:p>
            <a:r>
              <a:rPr lang="en-US" dirty="0"/>
              <a:t>Encoding / Decoding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C4723-318D-D464-2169-978BE3493DC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17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A1B83-8638-9174-A5BA-E09FAAC5266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958467"/>
            <a:ext cx="11160127" cy="5899533"/>
          </a:xfrm>
        </p:spPr>
        <p:txBody>
          <a:bodyPr/>
          <a:lstStyle/>
          <a:p>
            <a:r>
              <a:rPr lang="en-US" sz="3200" b="1" dirty="0">
                <a:highlight>
                  <a:srgbClr val="FA6432"/>
                </a:highlight>
                <a:latin typeface="+mj-lt"/>
              </a:rPr>
              <a:t>Encoding</a:t>
            </a:r>
            <a:r>
              <a:rPr lang="en-US" sz="3200" b="1" dirty="0">
                <a:latin typeface="+mj-lt"/>
              </a:rPr>
              <a:t>:</a:t>
            </a:r>
          </a:p>
          <a:p>
            <a:r>
              <a:rPr lang="en-US" dirty="0">
                <a:latin typeface="+mj-lt"/>
              </a:rPr>
              <a:t>	Learn how to compress data to most important latent features</a:t>
            </a:r>
          </a:p>
          <a:p>
            <a:endParaRPr lang="en-US" dirty="0">
              <a:latin typeface="+mj-lt"/>
            </a:endParaRPr>
          </a:p>
          <a:p>
            <a:r>
              <a:rPr lang="en-US" sz="3200" b="1" dirty="0">
                <a:highlight>
                  <a:srgbClr val="FA6432"/>
                </a:highlight>
                <a:latin typeface="+mj-lt"/>
              </a:rPr>
              <a:t>Decoding</a:t>
            </a:r>
            <a:r>
              <a:rPr lang="en-US" sz="3200" b="1" dirty="0">
                <a:latin typeface="+mj-lt"/>
              </a:rPr>
              <a:t>:</a:t>
            </a:r>
          </a:p>
          <a:p>
            <a:r>
              <a:rPr lang="en-US" dirty="0">
                <a:latin typeface="+mj-lt"/>
              </a:rPr>
              <a:t>	Learn how to decompress (or generate) from latent features to 	output data</a:t>
            </a:r>
          </a:p>
        </p:txBody>
      </p:sp>
      <p:pic>
        <p:nvPicPr>
          <p:cNvPr id="6" name="Picture 4" descr="Why are Autoencoders so Effective? — Saber HQ">
            <a:extLst>
              <a:ext uri="{FF2B5EF4-FFF2-40B4-BE49-F238E27FC236}">
                <a16:creationId xmlns:a16="http://schemas.microsoft.com/office/drawing/2014/main" id="{8E0095FC-759D-A1C4-5F2D-CFD42C3F8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94754"/>
            <a:ext cx="6079744" cy="340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LATENT SPACE REPRESENTATION: A HANDS-ON TUTORIAL ON AUTOENCODERS USING  TENSORFLOW | by J. Rafid Siddiqui, PhD | Medium">
            <a:extLst>
              <a:ext uri="{FF2B5EF4-FFF2-40B4-BE49-F238E27FC236}">
                <a16:creationId xmlns:a16="http://schemas.microsoft.com/office/drawing/2014/main" id="{4F0F8BD3-5938-7DFC-1C73-74CDF1E2F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48" y="3572221"/>
            <a:ext cx="5887665" cy="268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933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097E-7B43-D2E7-1616-D3FA7A177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Difference ML versus DL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590D3-0B79-ED92-3ECB-5FC951EBB65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18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EC6EA-8365-84DD-E3B1-B1FBD33F603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Understand these 4 advanced concepts to sound like a machine learning  master in 2020 | Machine learning, Deep learning, Machine learning basics">
            <a:extLst>
              <a:ext uri="{FF2B5EF4-FFF2-40B4-BE49-F238E27FC236}">
                <a16:creationId xmlns:a16="http://schemas.microsoft.com/office/drawing/2014/main" id="{8F7962A7-C4B5-8CE7-1D0A-13A22C204B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0" t="4342" r="6322" b="4939"/>
          <a:stretch/>
        </p:blipFill>
        <p:spPr bwMode="auto">
          <a:xfrm>
            <a:off x="1430204" y="1420431"/>
            <a:ext cx="9331590" cy="533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277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C4F6D-E0C3-370B-06EC-B46802BA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made Deep Learning feasible?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ABC2B1-CA7B-2F18-F7F4-8239B277DCF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19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5C8A7-EECA-660D-46CB-50E88FB4DD5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5">
            <a:extLst>
              <a:ext uri="{FF2B5EF4-FFF2-40B4-BE49-F238E27FC236}">
                <a16:creationId xmlns:a16="http://schemas.microsoft.com/office/drawing/2014/main" id="{4FABA1DB-D3A1-8203-5981-4AA9E4837D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009"/>
          <a:stretch/>
        </p:blipFill>
        <p:spPr>
          <a:xfrm>
            <a:off x="515936" y="1937458"/>
            <a:ext cx="7864235" cy="3762990"/>
          </a:xfrm>
          <a:prstGeom prst="rect">
            <a:avLst/>
          </a:prstGeom>
        </p:spPr>
      </p:pic>
      <p:pic>
        <p:nvPicPr>
          <p:cNvPr id="6" name="Picture 6" descr="Nvidia CUDA hardware acceleration | Nvidia, Logos, Logo design">
            <a:extLst>
              <a:ext uri="{FF2B5EF4-FFF2-40B4-BE49-F238E27FC236}">
                <a16:creationId xmlns:a16="http://schemas.microsoft.com/office/drawing/2014/main" id="{BC4E96B6-E478-F17D-982D-804568324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0328" y="4866147"/>
            <a:ext cx="1885924" cy="114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Prthamesh on Twitter: &quot;Experiences with #DeepLearning frameworks 😁 #PyTorch  #Tensorflow #keras #fastai #Python #rstats… &quot;">
            <a:extLst>
              <a:ext uri="{FF2B5EF4-FFF2-40B4-BE49-F238E27FC236}">
                <a16:creationId xmlns:a16="http://schemas.microsoft.com/office/drawing/2014/main" id="{A272379C-733F-68C7-0619-A44C8BA96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084" y="1628775"/>
            <a:ext cx="2904387" cy="290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953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D992A-78D3-5D82-12EB-450E98655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Fastai / Pytorch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3A2F87-8FAD-780B-49DB-13B2779044D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F46D87-2BA2-5417-EBF0-F8842841115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EA42D19-1FCB-3B4D-FF95-0A1055E4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505338"/>
            <a:ext cx="12192000" cy="456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839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048A-AD74-3DD9-793C-5BCB25C8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Neuron / (Linear) Perceptron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A50144-0407-D6ED-57B7-491570FFFF3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21</a:t>
            </a:fld>
            <a:endParaRPr lang="en-BE"/>
          </a:p>
        </p:txBody>
      </p:sp>
      <p:pic>
        <p:nvPicPr>
          <p:cNvPr id="5" name="Afbeelding 8">
            <a:extLst>
              <a:ext uri="{FF2B5EF4-FFF2-40B4-BE49-F238E27FC236}">
                <a16:creationId xmlns:a16="http://schemas.microsoft.com/office/drawing/2014/main" id="{309A2587-D091-332C-ECD3-AE860BB5C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35" y="2468013"/>
            <a:ext cx="5366401" cy="2566900"/>
          </a:xfrm>
          <a:prstGeom prst="rect">
            <a:avLst/>
          </a:prstGeom>
        </p:spPr>
      </p:pic>
      <p:pic>
        <p:nvPicPr>
          <p:cNvPr id="6" name="Afbeelding 12">
            <a:extLst>
              <a:ext uri="{FF2B5EF4-FFF2-40B4-BE49-F238E27FC236}">
                <a16:creationId xmlns:a16="http://schemas.microsoft.com/office/drawing/2014/main" id="{B8AAAEC5-22EC-5B60-D10F-4DF348AFEE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517"/>
          <a:stretch/>
        </p:blipFill>
        <p:spPr>
          <a:xfrm>
            <a:off x="6803199" y="1628775"/>
            <a:ext cx="4872863" cy="21046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DB6EF1-AEB6-DFB2-9702-6DD8CE074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0076" y="3941813"/>
            <a:ext cx="2745321" cy="937985"/>
          </a:xfrm>
          <a:prstGeom prst="rect">
            <a:avLst/>
          </a:prstGeom>
        </p:spPr>
      </p:pic>
      <p:pic>
        <p:nvPicPr>
          <p:cNvPr id="1028" name="Picture 4" descr="Dot Product - Formula, Examples | Dot Product of Two Vectors">
            <a:extLst>
              <a:ext uri="{FF2B5EF4-FFF2-40B4-BE49-F238E27FC236}">
                <a16:creationId xmlns:a16="http://schemas.microsoft.com/office/drawing/2014/main" id="{4FA1D14C-0D0B-B907-BF00-D3449C0AF9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41"/>
          <a:stretch/>
        </p:blipFill>
        <p:spPr bwMode="auto">
          <a:xfrm>
            <a:off x="8320076" y="4924253"/>
            <a:ext cx="2169362" cy="192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9338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E0DA-CA2E-6004-C5FE-E1F603ED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Tensor Calculations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30182F-DF2A-0208-8387-B0B95903C83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22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0C37F-E9AC-75E2-3078-72C175C9365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Neural networks: representation.">
            <a:extLst>
              <a:ext uri="{FF2B5EF4-FFF2-40B4-BE49-F238E27FC236}">
                <a16:creationId xmlns:a16="http://schemas.microsoft.com/office/drawing/2014/main" id="{78A29E74-451A-E188-810F-6C265ECA1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11" y="1371600"/>
            <a:ext cx="10595193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ep 21">
            <a:extLst>
              <a:ext uri="{FF2B5EF4-FFF2-40B4-BE49-F238E27FC236}">
                <a16:creationId xmlns:a16="http://schemas.microsoft.com/office/drawing/2014/main" id="{92504BC5-1199-A8A9-CE72-EE10AB7CEA6C}"/>
              </a:ext>
            </a:extLst>
          </p:cNvPr>
          <p:cNvGrpSpPr/>
          <p:nvPr/>
        </p:nvGrpSpPr>
        <p:grpSpPr>
          <a:xfrm>
            <a:off x="8125839" y="20765"/>
            <a:ext cx="4066161" cy="2148840"/>
            <a:chOff x="1983546" y="88644"/>
            <a:chExt cx="7061980" cy="4857908"/>
          </a:xfrm>
        </p:grpSpPr>
        <p:pic>
          <p:nvPicPr>
            <p:cNvPr id="8" name="Afbeelding 22">
              <a:extLst>
                <a:ext uri="{FF2B5EF4-FFF2-40B4-BE49-F238E27FC236}">
                  <a16:creationId xmlns:a16="http://schemas.microsoft.com/office/drawing/2014/main" id="{A8A9D1A4-1E08-730D-4F31-83E3454CEE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023" r="18105"/>
            <a:stretch/>
          </p:blipFill>
          <p:spPr>
            <a:xfrm>
              <a:off x="2370827" y="88644"/>
              <a:ext cx="2686090" cy="2354600"/>
            </a:xfrm>
            <a:prstGeom prst="rect">
              <a:avLst/>
            </a:prstGeom>
          </p:spPr>
        </p:pic>
        <p:pic>
          <p:nvPicPr>
            <p:cNvPr id="9" name="Afbeelding 23">
              <a:extLst>
                <a:ext uri="{FF2B5EF4-FFF2-40B4-BE49-F238E27FC236}">
                  <a16:creationId xmlns:a16="http://schemas.microsoft.com/office/drawing/2014/main" id="{0C5DCD9C-52C5-8FDB-4191-8371F72E79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677" t="5878" r="7693" b="3321"/>
            <a:stretch/>
          </p:blipFill>
          <p:spPr>
            <a:xfrm>
              <a:off x="5331655" y="196948"/>
              <a:ext cx="3516923" cy="2137992"/>
            </a:xfrm>
            <a:prstGeom prst="rect">
              <a:avLst/>
            </a:prstGeom>
          </p:spPr>
        </p:pic>
        <p:pic>
          <p:nvPicPr>
            <p:cNvPr id="10" name="Afbeelding 24">
              <a:extLst>
                <a:ext uri="{FF2B5EF4-FFF2-40B4-BE49-F238E27FC236}">
                  <a16:creationId xmlns:a16="http://schemas.microsoft.com/office/drawing/2014/main" id="{6034BBDA-B110-E0D1-A816-0ABB297F3C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0331" t="5590" r="7379" b="4458"/>
            <a:stretch/>
          </p:blipFill>
          <p:spPr>
            <a:xfrm>
              <a:off x="1983546" y="2828518"/>
              <a:ext cx="3460652" cy="2118034"/>
            </a:xfrm>
            <a:prstGeom prst="rect">
              <a:avLst/>
            </a:prstGeom>
          </p:spPr>
        </p:pic>
        <p:pic>
          <p:nvPicPr>
            <p:cNvPr id="11" name="Afbeelding 25">
              <a:extLst>
                <a:ext uri="{FF2B5EF4-FFF2-40B4-BE49-F238E27FC236}">
                  <a16:creationId xmlns:a16="http://schemas.microsoft.com/office/drawing/2014/main" id="{6CD94545-7661-80F4-57A1-E5DF4652C0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9346" t="5377" r="4683" b="4670"/>
            <a:stretch/>
          </p:blipFill>
          <p:spPr>
            <a:xfrm>
              <a:off x="5430129" y="2808561"/>
              <a:ext cx="3615397" cy="21180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1276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140B-79A4-BBE9-F638-E1D0D461F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Activation Functions: </a:t>
            </a:r>
            <a:r>
              <a:rPr lang="en-US" sz="3600"/>
              <a:t>adding non-linearity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2AB23C-B03F-6C9C-AB9C-12B09D180AD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23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786A3-D4C8-26F2-0C04-0CC66F1C794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Afbeelding 6">
            <a:extLst>
              <a:ext uri="{FF2B5EF4-FFF2-40B4-BE49-F238E27FC236}">
                <a16:creationId xmlns:a16="http://schemas.microsoft.com/office/drawing/2014/main" id="{E81492D8-CCAA-994E-205F-DB0BE9E172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635" r="1212"/>
          <a:stretch/>
        </p:blipFill>
        <p:spPr>
          <a:xfrm>
            <a:off x="8952" y="2130718"/>
            <a:ext cx="4601717" cy="2596564"/>
          </a:xfrm>
          <a:prstGeom prst="rect">
            <a:avLst/>
          </a:prstGeom>
        </p:spPr>
      </p:pic>
      <p:pic>
        <p:nvPicPr>
          <p:cNvPr id="6" name="Tijdelijke aanduiding voor inhoud 8">
            <a:extLst>
              <a:ext uri="{FF2B5EF4-FFF2-40B4-BE49-F238E27FC236}">
                <a16:creationId xmlns:a16="http://schemas.microsoft.com/office/drawing/2014/main" id="{AF9E2C8C-D48A-FC4B-826A-92BCDFF960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78" t="18866" r="9732" b="53463"/>
          <a:stretch/>
        </p:blipFill>
        <p:spPr>
          <a:xfrm>
            <a:off x="5501959" y="2130718"/>
            <a:ext cx="6549390" cy="1225151"/>
          </a:xfrm>
          <a:prstGeom prst="rect">
            <a:avLst/>
          </a:prstGeom>
        </p:spPr>
      </p:pic>
      <p:pic>
        <p:nvPicPr>
          <p:cNvPr id="7" name="Afbeelding 12">
            <a:extLst>
              <a:ext uri="{FF2B5EF4-FFF2-40B4-BE49-F238E27FC236}">
                <a16:creationId xmlns:a16="http://schemas.microsoft.com/office/drawing/2014/main" id="{5A8EEEE1-5D3F-2991-4C33-720D4039AE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66" t="3627" r="7093" b="8174"/>
          <a:stretch/>
        </p:blipFill>
        <p:spPr>
          <a:xfrm>
            <a:off x="6965327" y="4285328"/>
            <a:ext cx="3096344" cy="226825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A1D9A50-93DB-F64B-F2DD-97F3A49E008E}"/>
              </a:ext>
            </a:extLst>
          </p:cNvPr>
          <p:cNvSpPr/>
          <p:nvPr/>
        </p:nvSpPr>
        <p:spPr>
          <a:xfrm>
            <a:off x="3943350" y="3305563"/>
            <a:ext cx="1405890" cy="647984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D71B39-47BE-690E-9A5C-0DA045156F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3063" y="3272659"/>
            <a:ext cx="2958608" cy="99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31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5159-1205-DEFD-877C-3FA2426F0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Activation Function: Active Region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78FB8E-CE8F-069E-B530-8726841FD78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24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F3E2D-3BAE-0A3D-596B-122BE255F4F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Afbeelding 12">
            <a:extLst>
              <a:ext uri="{FF2B5EF4-FFF2-40B4-BE49-F238E27FC236}">
                <a16:creationId xmlns:a16="http://schemas.microsoft.com/office/drawing/2014/main" id="{07BD3A40-E9BD-115D-3FDF-553E885359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66" t="17270" r="7513" b="8174"/>
          <a:stretch/>
        </p:blipFill>
        <p:spPr>
          <a:xfrm>
            <a:off x="148856" y="2873976"/>
            <a:ext cx="3897262" cy="2424987"/>
          </a:xfrm>
          <a:prstGeom prst="rect">
            <a:avLst/>
          </a:prstGeom>
        </p:spPr>
      </p:pic>
      <p:pic>
        <p:nvPicPr>
          <p:cNvPr id="6" name="Afbeelding 12">
            <a:extLst>
              <a:ext uri="{FF2B5EF4-FFF2-40B4-BE49-F238E27FC236}">
                <a16:creationId xmlns:a16="http://schemas.microsoft.com/office/drawing/2014/main" id="{6D69B0EC-B7B3-6CB9-1220-106D731F0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186915"/>
            <a:ext cx="6785343" cy="379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24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AE9D-2D9A-0DCD-A97E-4E94CDE0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Naïve, Fully Connected (FCN), Dense, Feedforward Network, aka </a:t>
            </a:r>
            <a:r>
              <a:rPr lang="en-US" sz="3200">
                <a:highlight>
                  <a:srgbClr val="FFFF00"/>
                </a:highlight>
              </a:rPr>
              <a:t>Multi-Layer Perceptron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9C400F-D6D0-C22C-F71D-18F7FF9CD04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25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726E7-DEC3-B5EE-921B-7A7F53F8091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Afbeelding 10">
            <a:extLst>
              <a:ext uri="{FF2B5EF4-FFF2-40B4-BE49-F238E27FC236}">
                <a16:creationId xmlns:a16="http://schemas.microsoft.com/office/drawing/2014/main" id="{13AC866F-A99E-B996-1E31-AC7CAE5A8A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369"/>
          <a:stretch/>
        </p:blipFill>
        <p:spPr>
          <a:xfrm>
            <a:off x="645289" y="1447830"/>
            <a:ext cx="11030773" cy="510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464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93B4-A89F-4169-F51F-0CA4CA4B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Universal Approximator</a:t>
            </a:r>
            <a:br>
              <a:rPr lang="en-US"/>
            </a:br>
            <a:r>
              <a:rPr lang="en-US" sz="2000"/>
              <a:t>(one hidden layer is theoretically enough)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FF692D-A01E-2C1B-29FA-24273265E59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26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68D2C-4792-45A7-8493-7D32E444AF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693407" y="2141537"/>
            <a:ext cx="4982655" cy="4716463"/>
          </a:xfrm>
        </p:spPr>
        <p:txBody>
          <a:bodyPr/>
          <a:lstStyle/>
          <a:p>
            <a:pPr marL="0" indent="0">
              <a:buNone/>
            </a:pPr>
            <a:r>
              <a:rPr lang="en-BE" sz="2400" b="1"/>
              <a:t>Theory</a:t>
            </a:r>
            <a:r>
              <a:rPr lang="en-BE" sz="2400"/>
              <a:t>: 1 hidden (very wide) layer </a:t>
            </a:r>
            <a:br>
              <a:rPr lang="en-BE" sz="2400"/>
            </a:br>
            <a:r>
              <a:rPr lang="en-BE" sz="2400"/>
              <a:t>with non-linear activations is enough to solve any problem.</a:t>
            </a:r>
          </a:p>
          <a:p>
            <a:endParaRPr lang="en-BE" sz="2400"/>
          </a:p>
          <a:p>
            <a:pPr marL="0" indent="0">
              <a:buNone/>
            </a:pPr>
            <a:r>
              <a:rPr lang="en-BE" sz="2400" b="1"/>
              <a:t>Practice:</a:t>
            </a:r>
          </a:p>
          <a:p>
            <a:pPr marL="342900" indent="-342900">
              <a:buFontTx/>
              <a:buChar char="-"/>
            </a:pPr>
            <a:r>
              <a:rPr lang="en-BE" sz="2400"/>
              <a:t>Computationally </a:t>
            </a:r>
            <a:r>
              <a:rPr lang="en-BE" sz="2400" i="1"/>
              <a:t>very</a:t>
            </a:r>
            <a:r>
              <a:rPr lang="en-BE" sz="2400"/>
              <a:t> hard</a:t>
            </a:r>
          </a:p>
          <a:p>
            <a:pPr marL="342900" indent="-342900">
              <a:buFontTx/>
              <a:buChar char="-"/>
            </a:pPr>
            <a:r>
              <a:rPr lang="en-BE" sz="2400"/>
              <a:t>Does not generalize well to unseen data</a:t>
            </a:r>
          </a:p>
          <a:p>
            <a:pPr marL="342900" indent="-342900">
              <a:buFontTx/>
              <a:buChar char="-"/>
            </a:pPr>
            <a:endParaRPr lang="en-BE" sz="2400"/>
          </a:p>
          <a:p>
            <a:pPr marL="0" indent="0">
              <a:buNone/>
            </a:pPr>
            <a:r>
              <a:rPr lang="en-BE" sz="2400" b="1"/>
              <a:t>Enter</a:t>
            </a:r>
            <a:r>
              <a:rPr lang="en-BE" sz="2400"/>
              <a:t> deep learning = many hidden layers.</a:t>
            </a:r>
          </a:p>
          <a:p>
            <a:pPr marL="0" indent="0">
              <a:buNone/>
            </a:pPr>
            <a:r>
              <a:rPr lang="en-BE" sz="2400"/>
              <a:t>Made feasible by GPUs and better techniques.</a:t>
            </a:r>
          </a:p>
          <a:p>
            <a:endParaRPr lang="en-US"/>
          </a:p>
        </p:txBody>
      </p:sp>
      <p:pic>
        <p:nvPicPr>
          <p:cNvPr id="5" name="Picture 4" descr="Afbeeldingsresultaat voor universal approximator">
            <a:extLst>
              <a:ext uri="{FF2B5EF4-FFF2-40B4-BE49-F238E27FC236}">
                <a16:creationId xmlns:a16="http://schemas.microsoft.com/office/drawing/2014/main" id="{40B1AE69-6985-6328-1D5B-526EB3CF5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387" y="0"/>
            <a:ext cx="3300870" cy="188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Understand Universal Approximation Theorem with Code | by Tim Lim | Towards  Data Science">
            <a:extLst>
              <a:ext uri="{FF2B5EF4-FFF2-40B4-BE49-F238E27FC236}">
                <a16:creationId xmlns:a16="http://schemas.microsoft.com/office/drawing/2014/main" id="{EB531754-2999-0687-3EF2-93AA4A30B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50" y="1729214"/>
            <a:ext cx="4982655" cy="471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201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2E83-0D17-8EBE-EC40-253830189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Layers of a Deep Learning Network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8531B2-E8E1-88D2-D58E-194317BD787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27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0201C-98A9-92A3-CAFB-0545691975B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6">
            <a:extLst>
              <a:ext uri="{FF2B5EF4-FFF2-40B4-BE49-F238E27FC236}">
                <a16:creationId xmlns:a16="http://schemas.microsoft.com/office/drawing/2014/main" id="{27A9E85C-B439-947C-7DCB-ACAB88C26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02" y="2004766"/>
            <a:ext cx="4466030" cy="2507005"/>
          </a:xfrm>
          <a:prstGeom prst="rect">
            <a:avLst/>
          </a:prstGeom>
        </p:spPr>
      </p:pic>
      <p:pic>
        <p:nvPicPr>
          <p:cNvPr id="6" name="Afbeelding 8">
            <a:extLst>
              <a:ext uri="{FF2B5EF4-FFF2-40B4-BE49-F238E27FC236}">
                <a16:creationId xmlns:a16="http://schemas.microsoft.com/office/drawing/2014/main" id="{BE21725A-993E-A1AC-75EB-180B411B8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938" y="2496636"/>
            <a:ext cx="6537572" cy="3677384"/>
          </a:xfrm>
          <a:prstGeom prst="rect">
            <a:avLst/>
          </a:prstGeom>
        </p:spPr>
      </p:pic>
      <p:pic>
        <p:nvPicPr>
          <p:cNvPr id="7" name="Afbeelding 10">
            <a:extLst>
              <a:ext uri="{FF2B5EF4-FFF2-40B4-BE49-F238E27FC236}">
                <a16:creationId xmlns:a16="http://schemas.microsoft.com/office/drawing/2014/main" id="{01B77471-E6E2-A8D2-C3CD-651A07C3D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10" y="4288978"/>
            <a:ext cx="4258622" cy="238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17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DDCB0-47B3-6B93-F5C8-18DEE42F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Cycle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CD47BD-08A8-C97D-E1D3-5BB202E91AB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28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92A4E-8F78-F350-E374-557A2FBDA52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Afbeelding 2">
            <a:extLst>
              <a:ext uri="{FF2B5EF4-FFF2-40B4-BE49-F238E27FC236}">
                <a16:creationId xmlns:a16="http://schemas.microsoft.com/office/drawing/2014/main" id="{06D9FE04-2386-8A1F-F704-7AF937757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90" y="1732908"/>
            <a:ext cx="4198513" cy="2356834"/>
          </a:xfrm>
          <a:prstGeom prst="rect">
            <a:avLst/>
          </a:prstGeom>
        </p:spPr>
      </p:pic>
      <p:pic>
        <p:nvPicPr>
          <p:cNvPr id="6" name="Afbeelding 3">
            <a:extLst>
              <a:ext uri="{FF2B5EF4-FFF2-40B4-BE49-F238E27FC236}">
                <a16:creationId xmlns:a16="http://schemas.microsoft.com/office/drawing/2014/main" id="{B6588B8B-1C73-F240-2AE5-C887A3C6E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858" y="3918955"/>
            <a:ext cx="4412710" cy="2470672"/>
          </a:xfrm>
          <a:prstGeom prst="rect">
            <a:avLst/>
          </a:prstGeom>
        </p:spPr>
      </p:pic>
      <p:pic>
        <p:nvPicPr>
          <p:cNvPr id="7" name="Picture 4" descr="Afbeeldingsresultaat voor mse loss">
            <a:extLst>
              <a:ext uri="{FF2B5EF4-FFF2-40B4-BE49-F238E27FC236}">
                <a16:creationId xmlns:a16="http://schemas.microsoft.com/office/drawing/2014/main" id="{6B166660-9418-5C15-C571-8AC785D87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063" y="2253602"/>
            <a:ext cx="1663727" cy="163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Afbeelding 2">
            <a:extLst>
              <a:ext uri="{FF2B5EF4-FFF2-40B4-BE49-F238E27FC236}">
                <a16:creationId xmlns:a16="http://schemas.microsoft.com/office/drawing/2014/main" id="{77C990F2-79F8-4B5E-253B-964D4C5CE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904" y="1844463"/>
            <a:ext cx="3613328" cy="20230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AB2EEBD-7CC8-E526-48A5-D1EFFFDB29AF}"/>
              </a:ext>
            </a:extLst>
          </p:cNvPr>
          <p:cNvSpPr/>
          <p:nvPr/>
        </p:nvSpPr>
        <p:spPr>
          <a:xfrm>
            <a:off x="4494790" y="2856012"/>
            <a:ext cx="660273" cy="257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1BD520A-C71A-BEF8-E06E-7CF694B4EBE4}"/>
              </a:ext>
            </a:extLst>
          </p:cNvPr>
          <p:cNvSpPr/>
          <p:nvPr/>
        </p:nvSpPr>
        <p:spPr>
          <a:xfrm>
            <a:off x="7114409" y="2889013"/>
            <a:ext cx="660273" cy="257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CE2BC91D-13C9-09F8-0350-014B35D3BDEB}"/>
              </a:ext>
            </a:extLst>
          </p:cNvPr>
          <p:cNvSpPr/>
          <p:nvPr/>
        </p:nvSpPr>
        <p:spPr>
          <a:xfrm rot="6210434">
            <a:off x="10049747" y="4427075"/>
            <a:ext cx="2004415" cy="90137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8574F1-CE67-9185-FA96-CA6ABE3BB04B}"/>
              </a:ext>
            </a:extLst>
          </p:cNvPr>
          <p:cNvSpPr/>
          <p:nvPr/>
        </p:nvSpPr>
        <p:spPr>
          <a:xfrm>
            <a:off x="128972" y="1404668"/>
            <a:ext cx="1561606" cy="14513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u="sng" dirty="0"/>
              <a:t>Step1</a:t>
            </a:r>
            <a:r>
              <a:rPr lang="nl-BE" dirty="0"/>
              <a:t> Forward Pass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16CBB1B-08B1-E671-6FDF-4FE44E4097D3}"/>
              </a:ext>
            </a:extLst>
          </p:cNvPr>
          <p:cNvSpPr/>
          <p:nvPr/>
        </p:nvSpPr>
        <p:spPr>
          <a:xfrm>
            <a:off x="6095999" y="1399063"/>
            <a:ext cx="1561606" cy="14513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u="sng" dirty="0"/>
              <a:t>Step2</a:t>
            </a:r>
            <a:r>
              <a:rPr lang="nl-BE" dirty="0"/>
              <a:t> </a:t>
            </a:r>
            <a:r>
              <a:rPr lang="nl-BE" dirty="0" err="1"/>
              <a:t>Loss</a:t>
            </a:r>
            <a:r>
              <a:rPr lang="nl-BE" dirty="0"/>
              <a:t> </a:t>
            </a:r>
            <a:r>
              <a:rPr lang="nl-BE" dirty="0" err="1"/>
              <a:t>Function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E71CDF6-5343-A0BF-A7E2-1EAA7FBCB86B}"/>
              </a:ext>
            </a:extLst>
          </p:cNvPr>
          <p:cNvSpPr/>
          <p:nvPr/>
        </p:nvSpPr>
        <p:spPr>
          <a:xfrm>
            <a:off x="10596848" y="1393753"/>
            <a:ext cx="1561606" cy="14513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u="sng" dirty="0"/>
              <a:t>Step3</a:t>
            </a:r>
            <a:r>
              <a:rPr lang="nl-BE" dirty="0"/>
              <a:t> </a:t>
            </a:r>
            <a:r>
              <a:rPr lang="nl-BE" dirty="0" err="1"/>
              <a:t>Optimize</a:t>
            </a:r>
            <a:r>
              <a:rPr lang="nl-BE" dirty="0"/>
              <a:t> </a:t>
            </a:r>
            <a:r>
              <a:rPr lang="nl-BE" dirty="0" err="1"/>
              <a:t>weights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1D02207-1FF2-178F-1021-1F04FF04D6CE}"/>
              </a:ext>
            </a:extLst>
          </p:cNvPr>
          <p:cNvSpPr/>
          <p:nvPr/>
        </p:nvSpPr>
        <p:spPr>
          <a:xfrm>
            <a:off x="4359976" y="5376081"/>
            <a:ext cx="1561606" cy="14513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u="sng" dirty="0"/>
              <a:t>Step4</a:t>
            </a:r>
            <a:r>
              <a:rPr lang="nl-BE" dirty="0"/>
              <a:t> </a:t>
            </a:r>
            <a:r>
              <a:rPr lang="nl-BE" sz="1600" dirty="0"/>
              <a:t>Back-</a:t>
            </a:r>
            <a:r>
              <a:rPr lang="nl-BE" sz="1600" dirty="0" err="1"/>
              <a:t>propagate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651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3E6A2-988E-4386-D80A-283A31972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Epoch – Batch - Iteration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BC5BA2-9C95-5ABB-A439-DE51CA4EF7A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29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8A01D-48DC-6F10-F586-ED66E97853B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oogle Shape;174;p32">
            <a:extLst>
              <a:ext uri="{FF2B5EF4-FFF2-40B4-BE49-F238E27FC236}">
                <a16:creationId xmlns:a16="http://schemas.microsoft.com/office/drawing/2014/main" id="{5531D8A6-7B1E-B8A4-2EB8-CCB2E858C257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6097" y="1898774"/>
            <a:ext cx="10824632" cy="417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124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6D77A-B607-62B1-16AD-62C42339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Underfit – Overfit: use of validation 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870FFF-2D80-2B2C-3E59-F2DB6BF9389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48DF4-3773-FD3C-4BDC-07E4BAF1AA1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How to get a grip on Cross Validations | by Shruti Tanwar |  freeCodeCamp.org | Medium">
            <a:extLst>
              <a:ext uri="{FF2B5EF4-FFF2-40B4-BE49-F238E27FC236}">
                <a16:creationId xmlns:a16="http://schemas.microsoft.com/office/drawing/2014/main" id="{370B82EB-3439-5326-63D9-76DEEE418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" y="1704675"/>
            <a:ext cx="6557964" cy="515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Neural Network Train-Validate-Test Stopping -- Visual Studio Magazine">
            <a:extLst>
              <a:ext uri="{FF2B5EF4-FFF2-40B4-BE49-F238E27FC236}">
                <a16:creationId xmlns:a16="http://schemas.microsoft.com/office/drawing/2014/main" id="{215ED34C-C8DF-3051-6CD9-BF4A960A18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04" r="4080"/>
          <a:stretch/>
        </p:blipFill>
        <p:spPr bwMode="auto">
          <a:xfrm>
            <a:off x="6705600" y="2400300"/>
            <a:ext cx="5262563" cy="363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175;p32">
            <a:extLst>
              <a:ext uri="{FF2B5EF4-FFF2-40B4-BE49-F238E27FC236}">
                <a16:creationId xmlns:a16="http://schemas.microsoft.com/office/drawing/2014/main" id="{1F9D9CB1-86DE-0F64-12DC-A0D2E069056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1960" y="1704675"/>
            <a:ext cx="4113278" cy="16981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5561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E3AEC-80C2-5A11-933C-D3AC6D21C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After training: inference (predict)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6DA55C-EDB1-08F6-98A1-6FF3B26BCE0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31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8469D-ECA0-CA7D-CCA2-397D89DAFE9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6">
            <a:extLst>
              <a:ext uri="{FF2B5EF4-FFF2-40B4-BE49-F238E27FC236}">
                <a16:creationId xmlns:a16="http://schemas.microsoft.com/office/drawing/2014/main" id="{A2279FD7-B1AB-DF92-63E9-A9DB22DBE3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453"/>
          <a:stretch/>
        </p:blipFill>
        <p:spPr>
          <a:xfrm>
            <a:off x="1317698" y="1826766"/>
            <a:ext cx="9556601" cy="432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41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1509D4-06FC-A9A0-2D01-7DDFFF6041A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32</a:t>
            </a:fld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699A3D-8604-D6AB-71E9-DEEB195570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7" t="5500" r="5723" b="5677"/>
          <a:stretch/>
        </p:blipFill>
        <p:spPr>
          <a:xfrm>
            <a:off x="3341370" y="1116012"/>
            <a:ext cx="5509260" cy="55607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8073AE-CA66-04B4-B0F3-D425130BB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74" y="45720"/>
            <a:ext cx="8616633" cy="1116012"/>
          </a:xfrm>
        </p:spPr>
        <p:txBody>
          <a:bodyPr/>
          <a:lstStyle/>
          <a:p>
            <a:r>
              <a:rPr lang="en-US" sz="7200"/>
              <a:t>Advanced Topics</a:t>
            </a:r>
          </a:p>
        </p:txBody>
      </p:sp>
    </p:spTree>
    <p:extLst>
      <p:ext uri="{BB962C8B-B14F-4D97-AF65-F5344CB8AC3E}">
        <p14:creationId xmlns:p14="http://schemas.microsoft.com/office/powerpoint/2010/main" val="300207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0880FC-8F0B-B501-1662-D93948F7367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33</a:t>
            </a:fld>
            <a:endParaRPr lang="en-BE"/>
          </a:p>
        </p:txBody>
      </p:sp>
      <p:pic>
        <p:nvPicPr>
          <p:cNvPr id="4" name="Google Shape;206;p37">
            <a:extLst>
              <a:ext uri="{FF2B5EF4-FFF2-40B4-BE49-F238E27FC236}">
                <a16:creationId xmlns:a16="http://schemas.microsoft.com/office/drawing/2014/main" id="{1CA8BD7C-AFB7-716F-2E50-0D70BA2C7E13}"/>
              </a:ext>
            </a:extLst>
          </p:cNvPr>
          <p:cNvPicPr preferRelativeResize="0">
            <a:picLocks noGrp="1"/>
          </p:cNvPicPr>
          <p:nvPr>
            <p:ph type="media" sz="quarter" idx="22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5938" y="1623060"/>
            <a:ext cx="11160124" cy="44234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A7B2616-6D20-DDAF-9F76-979A281DCC49}"/>
              </a:ext>
            </a:extLst>
          </p:cNvPr>
          <p:cNvSpPr txBox="1">
            <a:spLocks/>
          </p:cNvSpPr>
          <p:nvPr/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28850513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016A-DF34-59D9-F694-31E0BEF95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Preprocessing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C8C790-9F93-C6C1-251C-89DB33EAA66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34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B1621-2876-A401-061A-1E544FFA39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oogle Shape;211;p38">
            <a:extLst>
              <a:ext uri="{FF2B5EF4-FFF2-40B4-BE49-F238E27FC236}">
                <a16:creationId xmlns:a16="http://schemas.microsoft.com/office/drawing/2014/main" id="{39E3F45C-31B2-84AC-0DED-E00B4C0C09B7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6299" y="1875010"/>
            <a:ext cx="4356745" cy="1976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Afbeelding 9">
            <a:extLst>
              <a:ext uri="{FF2B5EF4-FFF2-40B4-BE49-F238E27FC236}">
                <a16:creationId xmlns:a16="http://schemas.microsoft.com/office/drawing/2014/main" id="{020E4240-3858-E461-7151-21A57EA77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117" y="1806466"/>
            <a:ext cx="6143693" cy="2141516"/>
          </a:xfrm>
          <a:prstGeom prst="rect">
            <a:avLst/>
          </a:prstGeom>
        </p:spPr>
      </p:pic>
      <p:pic>
        <p:nvPicPr>
          <p:cNvPr id="7" name="Google Shape;225;p40">
            <a:extLst>
              <a:ext uri="{FF2B5EF4-FFF2-40B4-BE49-F238E27FC236}">
                <a16:creationId xmlns:a16="http://schemas.microsoft.com/office/drawing/2014/main" id="{A61A351B-2DD0-323F-6B61-1CD62BDCE5C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4771" r="31637" b="45518"/>
          <a:stretch/>
        </p:blipFill>
        <p:spPr>
          <a:xfrm>
            <a:off x="1832670" y="4553812"/>
            <a:ext cx="5376566" cy="135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26;p40">
            <a:extLst>
              <a:ext uri="{FF2B5EF4-FFF2-40B4-BE49-F238E27FC236}">
                <a16:creationId xmlns:a16="http://schemas.microsoft.com/office/drawing/2014/main" id="{8967A985-EE2E-887C-2353-0EEF958542F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2983" y="3591095"/>
            <a:ext cx="2512980" cy="2211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 descr="BBC SPORT | Boxing | Boxing by the weights">
            <a:extLst>
              <a:ext uri="{FF2B5EF4-FFF2-40B4-BE49-F238E27FC236}">
                <a16:creationId xmlns:a16="http://schemas.microsoft.com/office/drawing/2014/main" id="{1F9A8B38-7789-CAA2-3377-207058B92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246" y="5337720"/>
            <a:ext cx="2633501" cy="917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9110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07009-A193-4911-1550-1AB1F4EA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Normalize - Standardize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574EBC-C09C-F3F0-329A-55A82800D60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35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3F12A-1C36-7E37-C606-F419A0E16FB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6" descr="3 Outlier Antonyms. Full list of opposite words of outlier.">
            <a:extLst>
              <a:ext uri="{FF2B5EF4-FFF2-40B4-BE49-F238E27FC236}">
                <a16:creationId xmlns:a16="http://schemas.microsoft.com/office/drawing/2014/main" id="{3E4FBFBB-321F-C0C7-5EC9-3369911665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30" b="8421"/>
          <a:stretch/>
        </p:blipFill>
        <p:spPr bwMode="auto">
          <a:xfrm>
            <a:off x="1847527" y="5298678"/>
            <a:ext cx="1947751" cy="1019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oogle Shape;246;p43">
            <a:extLst>
              <a:ext uri="{FF2B5EF4-FFF2-40B4-BE49-F238E27FC236}">
                <a16:creationId xmlns:a16="http://schemas.microsoft.com/office/drawing/2014/main" id="{5C7D27C2-A9A3-611C-283B-DD875D8A15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1199" t="14770"/>
          <a:stretch/>
        </p:blipFill>
        <p:spPr>
          <a:xfrm>
            <a:off x="3120178" y="1628775"/>
            <a:ext cx="1800200" cy="227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2;p41">
            <a:extLst>
              <a:ext uri="{FF2B5EF4-FFF2-40B4-BE49-F238E27FC236}">
                <a16:creationId xmlns:a16="http://schemas.microsoft.com/office/drawing/2014/main" id="{A0B94F31-8FB9-9060-9F57-AD63154F865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336" y="1786401"/>
            <a:ext cx="2633501" cy="1788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33;p41">
            <a:extLst>
              <a:ext uri="{FF2B5EF4-FFF2-40B4-BE49-F238E27FC236}">
                <a16:creationId xmlns:a16="http://schemas.microsoft.com/office/drawing/2014/main" id="{4C7C667F-6FEF-6649-5103-CFEA0679B7D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4578" t="33595" r="49778" b="17502"/>
          <a:stretch/>
        </p:blipFill>
        <p:spPr>
          <a:xfrm>
            <a:off x="319023" y="3751432"/>
            <a:ext cx="2234126" cy="154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47;p43">
            <a:extLst>
              <a:ext uri="{FF2B5EF4-FFF2-40B4-BE49-F238E27FC236}">
                <a16:creationId xmlns:a16="http://schemas.microsoft.com/office/drawing/2014/main" id="{7E7E0227-E024-59AD-BD87-F162E65BC0B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2756"/>
          <a:stretch/>
        </p:blipFill>
        <p:spPr>
          <a:xfrm>
            <a:off x="2752837" y="3804497"/>
            <a:ext cx="2633501" cy="1439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60;p45">
            <a:extLst>
              <a:ext uri="{FF2B5EF4-FFF2-40B4-BE49-F238E27FC236}">
                <a16:creationId xmlns:a16="http://schemas.microsoft.com/office/drawing/2014/main" id="{18B9B34E-5680-491F-6BBB-33261E3337B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r="10170"/>
          <a:stretch/>
        </p:blipFill>
        <p:spPr>
          <a:xfrm>
            <a:off x="5407055" y="1786401"/>
            <a:ext cx="6784945" cy="4281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08846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0880FC-8F0B-B501-1662-D93948F7367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0248A-FD0F-534C-919E-E8EB9B0FC062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7B2616-6D20-DDAF-9F76-979A281DCC49}"/>
              </a:ext>
            </a:extLst>
          </p:cNvPr>
          <p:cNvSpPr txBox="1">
            <a:spLocks/>
          </p:cNvSpPr>
          <p:nvPr/>
        </p:nvSpPr>
        <p:spPr>
          <a:xfrm>
            <a:off x="515936" y="441579"/>
            <a:ext cx="11160125" cy="1116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Forward Pass &amp; Loss calculation &amp; Backward pass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D4A4C89-8298-3225-E231-8EB4E552128F}"/>
              </a:ext>
            </a:extLst>
          </p:cNvPr>
          <p:cNvPicPr>
            <a:picLocks noGrp="1" noChangeAspect="1"/>
          </p:cNvPicPr>
          <p:nvPr>
            <p:ph type="media" sz="quarter" idx="22"/>
          </p:nvPr>
        </p:nvPicPr>
        <p:blipFill rotWithShape="1">
          <a:blip r:embed="rId2"/>
          <a:srcRect t="22558"/>
          <a:stretch/>
        </p:blipFill>
        <p:spPr>
          <a:xfrm>
            <a:off x="515937" y="1420431"/>
            <a:ext cx="11160124" cy="485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67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6C744-F63D-C6DC-88B3-EB61E417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 calculation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288A78-2E92-280F-0FFD-9C7163D7138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37</a:t>
            </a:fld>
            <a:endParaRPr lang="en-BE"/>
          </a:p>
        </p:txBody>
      </p:sp>
      <p:pic>
        <p:nvPicPr>
          <p:cNvPr id="6" name="Picture 4" descr="Afbeeldingsresultaat voor mse loss">
            <a:extLst>
              <a:ext uri="{FF2B5EF4-FFF2-40B4-BE49-F238E27FC236}">
                <a16:creationId xmlns:a16="http://schemas.microsoft.com/office/drawing/2014/main" id="{90494DAC-B5A7-CE18-55AC-91E9DF3A7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93" y="1520238"/>
            <a:ext cx="2727255" cy="268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fbeeldingsresultaat voor mse loss">
            <a:extLst>
              <a:ext uri="{FF2B5EF4-FFF2-40B4-BE49-F238E27FC236}">
                <a16:creationId xmlns:a16="http://schemas.microsoft.com/office/drawing/2014/main" id="{26D65742-3B07-25D6-A1AC-D2355A057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74" y="4276437"/>
            <a:ext cx="3199381" cy="140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Afbeelding 15">
            <a:extLst>
              <a:ext uri="{FF2B5EF4-FFF2-40B4-BE49-F238E27FC236}">
                <a16:creationId xmlns:a16="http://schemas.microsoft.com/office/drawing/2014/main" id="{E5C17CDB-AC51-A247-9023-263E7401A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330" y="2979791"/>
            <a:ext cx="1163778" cy="1283534"/>
          </a:xfrm>
          <a:prstGeom prst="rect">
            <a:avLst/>
          </a:prstGeom>
        </p:spPr>
      </p:pic>
      <p:pic>
        <p:nvPicPr>
          <p:cNvPr id="9" name="Afbeelding 16">
            <a:extLst>
              <a:ext uri="{FF2B5EF4-FFF2-40B4-BE49-F238E27FC236}">
                <a16:creationId xmlns:a16="http://schemas.microsoft.com/office/drawing/2014/main" id="{00FA40AD-FC22-BA52-4F1C-09500E93D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2673" y="2971617"/>
            <a:ext cx="1222202" cy="125069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BE621BC-5B5E-5562-A503-5F8E7CCACA9D}"/>
              </a:ext>
            </a:extLst>
          </p:cNvPr>
          <p:cNvGrpSpPr/>
          <p:nvPr/>
        </p:nvGrpSpPr>
        <p:grpSpPr>
          <a:xfrm>
            <a:off x="6819059" y="1759287"/>
            <a:ext cx="5372941" cy="4135720"/>
            <a:chOff x="6819059" y="1759287"/>
            <a:chExt cx="5372941" cy="4135720"/>
          </a:xfrm>
        </p:grpSpPr>
        <p:pic>
          <p:nvPicPr>
            <p:cNvPr id="11" name="Afbeelding 17">
              <a:extLst>
                <a:ext uri="{FF2B5EF4-FFF2-40B4-BE49-F238E27FC236}">
                  <a16:creationId xmlns:a16="http://schemas.microsoft.com/office/drawing/2014/main" id="{81698680-B444-DA03-66DC-693E5D3B8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19059" y="3140022"/>
              <a:ext cx="5372941" cy="2754985"/>
            </a:xfrm>
            <a:prstGeom prst="rect">
              <a:avLst/>
            </a:prstGeom>
          </p:spPr>
        </p:pic>
        <p:pic>
          <p:nvPicPr>
            <p:cNvPr id="12" name="Picture 4" descr="Softmax Activation Function Explained | by Dario Radečić | Towards Data  Science">
              <a:extLst>
                <a:ext uri="{FF2B5EF4-FFF2-40B4-BE49-F238E27FC236}">
                  <a16:creationId xmlns:a16="http://schemas.microsoft.com/office/drawing/2014/main" id="{AE685BD1-CCE9-1AFB-AF4D-53360CB5AA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29593" y="1759287"/>
              <a:ext cx="2623365" cy="1348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Pijl: omhoog/omlaag 19">
              <a:extLst>
                <a:ext uri="{FF2B5EF4-FFF2-40B4-BE49-F238E27FC236}">
                  <a16:creationId xmlns:a16="http://schemas.microsoft.com/office/drawing/2014/main" id="{D396892A-289A-49FF-2F7C-5D726AA89911}"/>
                </a:ext>
              </a:extLst>
            </p:cNvPr>
            <p:cNvSpPr/>
            <p:nvPr/>
          </p:nvSpPr>
          <p:spPr>
            <a:xfrm rot="1935735">
              <a:off x="9907028" y="3140022"/>
              <a:ext cx="288032" cy="963073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Pijl: links/rechts 20">
            <a:extLst>
              <a:ext uri="{FF2B5EF4-FFF2-40B4-BE49-F238E27FC236}">
                <a16:creationId xmlns:a16="http://schemas.microsoft.com/office/drawing/2014/main" id="{47837518-D37D-D5D2-D726-0F16974668C9}"/>
              </a:ext>
            </a:extLst>
          </p:cNvPr>
          <p:cNvSpPr/>
          <p:nvPr/>
        </p:nvSpPr>
        <p:spPr>
          <a:xfrm>
            <a:off x="4799856" y="3501008"/>
            <a:ext cx="675523" cy="2880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49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8A2C3-F3BD-0772-524F-81C9F116A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Backwards Pass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CC839D-00EE-AF9D-7A4D-F33B412ACB2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38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682C0-F467-DCD1-851D-46465D508FC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6">
            <a:extLst>
              <a:ext uri="{FF2B5EF4-FFF2-40B4-BE49-F238E27FC236}">
                <a16:creationId xmlns:a16="http://schemas.microsoft.com/office/drawing/2014/main" id="{4D94E676-5D89-5F92-15D7-B361E0AC98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15"/>
          <a:stretch/>
        </p:blipFill>
        <p:spPr>
          <a:xfrm>
            <a:off x="84532" y="2132856"/>
            <a:ext cx="7871178" cy="3519215"/>
          </a:xfrm>
          <a:prstGeom prst="rect">
            <a:avLst/>
          </a:prstGeom>
        </p:spPr>
      </p:pic>
      <p:pic>
        <p:nvPicPr>
          <p:cNvPr id="6" name="Afbeelding 8">
            <a:extLst>
              <a:ext uri="{FF2B5EF4-FFF2-40B4-BE49-F238E27FC236}">
                <a16:creationId xmlns:a16="http://schemas.microsoft.com/office/drawing/2014/main" id="{BA69E0EC-88E0-49B7-C185-BED22AC35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992" y="1772816"/>
            <a:ext cx="6068164" cy="281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088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EA961-D174-E45B-A2B1-28263328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 Weights (simplification)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B59088-B94B-47BF-2B47-8410A494AA4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39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5A04A-C6F7-18D6-82E0-AAC7F7AE518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87A8608-1F74-4CEC-9720-F7933F03C33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1715393"/>
            <a:ext cx="5904656" cy="442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460E3AA-D99A-2362-5FB8-BAF92AA60FC6}"/>
              </a:ext>
            </a:extLst>
          </p:cNvPr>
          <p:cNvGrpSpPr/>
          <p:nvPr/>
        </p:nvGrpSpPr>
        <p:grpSpPr>
          <a:xfrm>
            <a:off x="7489962" y="1628775"/>
            <a:ext cx="4248951" cy="3093709"/>
            <a:chOff x="7489962" y="1191382"/>
            <a:chExt cx="4248951" cy="3093709"/>
          </a:xfrm>
        </p:grpSpPr>
        <p:pic>
          <p:nvPicPr>
            <p:cNvPr id="7" name="Picture 2" descr="Backpropagation Step by Step">
              <a:extLst>
                <a:ext uri="{FF2B5EF4-FFF2-40B4-BE49-F238E27FC236}">
                  <a16:creationId xmlns:a16="http://schemas.microsoft.com/office/drawing/2014/main" id="{2A4989ED-FA11-DB31-D44D-8D0C4FDC41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9962" y="1191382"/>
              <a:ext cx="3943350" cy="2543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6704FC82-7051-F29D-7395-614F4B054AB3}"/>
                </a:ext>
              </a:extLst>
            </p:cNvPr>
            <p:cNvSpPr/>
            <p:nvPr/>
          </p:nvSpPr>
          <p:spPr>
            <a:xfrm>
              <a:off x="9408368" y="2060848"/>
              <a:ext cx="1584176" cy="8640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Rechte verbindingslijn met pijl 9">
              <a:extLst>
                <a:ext uri="{FF2B5EF4-FFF2-40B4-BE49-F238E27FC236}">
                  <a16:creationId xmlns:a16="http://schemas.microsoft.com/office/drawing/2014/main" id="{8266C162-7E1E-AC65-F853-ED11B7C7C907}"/>
                </a:ext>
              </a:extLst>
            </p:cNvPr>
            <p:cNvCxnSpPr/>
            <p:nvPr/>
          </p:nvCxnSpPr>
          <p:spPr>
            <a:xfrm>
              <a:off x="10344472" y="2924944"/>
              <a:ext cx="216024" cy="10081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kstvak 10">
              <a:extLst>
                <a:ext uri="{FF2B5EF4-FFF2-40B4-BE49-F238E27FC236}">
                  <a16:creationId xmlns:a16="http://schemas.microsoft.com/office/drawing/2014/main" id="{90DA7346-9E2B-22B7-ADAB-A65757B23FB6}"/>
                </a:ext>
              </a:extLst>
            </p:cNvPr>
            <p:cNvSpPr txBox="1"/>
            <p:nvPr/>
          </p:nvSpPr>
          <p:spPr>
            <a:xfrm flipH="1">
              <a:off x="10056440" y="3915759"/>
              <a:ext cx="16824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/>
                <a:t>Step </a:t>
              </a:r>
              <a:r>
                <a:rPr lang="nl-BE" err="1"/>
                <a:t>size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67951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F28D-29FF-5800-8BE9-FE257973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Rate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508311-CA2F-EC0B-3F44-1DEF016BA88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7C9F7-EBB0-529F-D266-F9F4F434CAC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gradient descent variants">
            <a:extLst>
              <a:ext uri="{FF2B5EF4-FFF2-40B4-BE49-F238E27FC236}">
                <a16:creationId xmlns:a16="http://schemas.microsoft.com/office/drawing/2014/main" id="{789D6302-6FDF-D421-C0CD-1C006CD85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872" y="1225487"/>
            <a:ext cx="8400256" cy="350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lr_finder">
            <a:extLst>
              <a:ext uri="{FF2B5EF4-FFF2-40B4-BE49-F238E27FC236}">
                <a16:creationId xmlns:a16="http://schemas.microsoft.com/office/drawing/2014/main" id="{407E8D7A-2763-6964-10A3-853B9CA2B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6" y="4576668"/>
            <a:ext cx="4510087" cy="231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Goldilocks of learning rates">
            <a:extLst>
              <a:ext uri="{FF2B5EF4-FFF2-40B4-BE49-F238E27FC236}">
                <a16:creationId xmlns:a16="http://schemas.microsoft.com/office/drawing/2014/main" id="{B3838EB3-D563-BC82-D405-23BFFB684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4524368"/>
            <a:ext cx="5817323" cy="225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04008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0880FC-8F0B-B501-1662-D93948F7367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0248A-FD0F-534C-919E-E8EB9B0FC062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7B2616-6D20-DDAF-9F76-979A281DCC49}"/>
              </a:ext>
            </a:extLst>
          </p:cNvPr>
          <p:cNvSpPr txBox="1">
            <a:spLocks/>
          </p:cNvSpPr>
          <p:nvPr/>
        </p:nvSpPr>
        <p:spPr>
          <a:xfrm>
            <a:off x="515936" y="441579"/>
            <a:ext cx="11160125" cy="1116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Challenge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>
              <a:solidFill>
                <a:srgbClr val="FFFF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Local Minima</a:t>
            </a: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>
                <a:solidFill>
                  <a:srgbClr val="FFFFFF"/>
                </a:solidFill>
              </a:rPr>
              <a:t>‘I’m stuck!’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pic>
        <p:nvPicPr>
          <p:cNvPr id="6" name="Picture 2" descr="I'M STUCK AND I HAVE TO PEE!... now I'm just stuck : TheSimpsons">
            <a:extLst>
              <a:ext uri="{FF2B5EF4-FFF2-40B4-BE49-F238E27FC236}">
                <a16:creationId xmlns:a16="http://schemas.microsoft.com/office/drawing/2014/main" id="{BF123559-AD88-1A0E-E726-1B6ADB9B613F}"/>
              </a:ext>
            </a:extLst>
          </p:cNvPr>
          <p:cNvPicPr>
            <a:picLocks noGrp="1" noChangeAspect="1" noChangeArrowheads="1"/>
          </p:cNvPicPr>
          <p:nvPr>
            <p:ph type="media" sz="quarter" idx="2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4" t="6951" r="5113" b="1558"/>
          <a:stretch/>
        </p:blipFill>
        <p:spPr bwMode="auto">
          <a:xfrm>
            <a:off x="3535032" y="3702677"/>
            <a:ext cx="5121932" cy="304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609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F36C8-B2BA-C11C-3587-535680D5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Stuck in Local Minima</a:t>
            </a:r>
            <a:br>
              <a:rPr lang="en-US"/>
            </a:br>
            <a:r>
              <a:rPr lang="en-US" sz="2400"/>
              <a:t>(of the loss function)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48EEE1-B47E-DC38-B2B7-CA8B143C41A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42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C53E0-7F31-9474-DA06-C39FFFCC6F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Local &amp; Global Minima Explained with Examples - Data Analytics">
            <a:extLst>
              <a:ext uri="{FF2B5EF4-FFF2-40B4-BE49-F238E27FC236}">
                <a16:creationId xmlns:a16="http://schemas.microsoft.com/office/drawing/2014/main" id="{06C99E80-C421-E994-1A51-F14F16E4E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655" y="1564480"/>
            <a:ext cx="9163494" cy="5197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7347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A59C9-4569-F511-BE5F-E8D57418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 Landscapes: theory versus reality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7B45C6-7FD2-809F-5222-2A2F3A21C8F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43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43765-167B-7DD8-C741-2209B76A8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850" y="2051710"/>
            <a:ext cx="4881547" cy="377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413B0C3-4876-47D6-AF95-7B571F519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44" y="1822633"/>
            <a:ext cx="5534422" cy="442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870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3DB9-EE26-4A27-5CA1-0572472CC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Minima &amp; Saddle Points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8B4393-0DF8-180F-C9BB-6290A435E53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44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F7AD2-0B5F-DC0C-9D95-C35A9844A4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challenges-1">
            <a:extLst>
              <a:ext uri="{FF2B5EF4-FFF2-40B4-BE49-F238E27FC236}">
                <a16:creationId xmlns:a16="http://schemas.microsoft.com/office/drawing/2014/main" id="{4E7C1CE5-9879-656C-9B33-5EED30993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1646984"/>
            <a:ext cx="5123148" cy="381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addle">
            <a:extLst>
              <a:ext uri="{FF2B5EF4-FFF2-40B4-BE49-F238E27FC236}">
                <a16:creationId xmlns:a16="http://schemas.microsoft.com/office/drawing/2014/main" id="{426BE73F-1D8B-5312-01F0-93BB08313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60" y="2158566"/>
            <a:ext cx="5600501" cy="279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2502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AA4E-1864-B875-2380-08A550FDC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1:</a:t>
            </a:r>
            <a:br>
              <a:rPr lang="en-US"/>
            </a:br>
            <a:r>
              <a:rPr lang="en-US"/>
              <a:t>Randomness by </a:t>
            </a:r>
            <a:r>
              <a:rPr lang="en-US">
                <a:highlight>
                  <a:srgbClr val="FFFF00"/>
                </a:highlight>
              </a:rPr>
              <a:t>Batch Size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15A6D7-BB0C-7B58-2801-5A3141ADC20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45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8D570-3C90-F326-CEEC-F565961104A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ep 11">
            <a:extLst>
              <a:ext uri="{FF2B5EF4-FFF2-40B4-BE49-F238E27FC236}">
                <a16:creationId xmlns:a16="http://schemas.microsoft.com/office/drawing/2014/main" id="{BD0B1F97-BAD3-1BC7-2E07-DE798594E5D9}"/>
              </a:ext>
            </a:extLst>
          </p:cNvPr>
          <p:cNvGrpSpPr/>
          <p:nvPr/>
        </p:nvGrpSpPr>
        <p:grpSpPr>
          <a:xfrm>
            <a:off x="3619318" y="1628775"/>
            <a:ext cx="8492286" cy="4358850"/>
            <a:chOff x="2279576" y="1312211"/>
            <a:chExt cx="8492286" cy="4358850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1243D1DE-A3E0-1FD9-425C-9DAE05B226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9576" y="1312211"/>
              <a:ext cx="8492286" cy="2641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Afbeeldingsresultaat voor batch mini batch">
              <a:extLst>
                <a:ext uri="{FF2B5EF4-FFF2-40B4-BE49-F238E27FC236}">
                  <a16:creationId xmlns:a16="http://schemas.microsoft.com/office/drawing/2014/main" id="{0F5DAE06-D4F9-D9A4-C6EE-C3E5F3CF4E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56"/>
            <a:stretch/>
          </p:blipFill>
          <p:spPr bwMode="auto">
            <a:xfrm>
              <a:off x="3431704" y="3953544"/>
              <a:ext cx="2450574" cy="17170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Afbeeldingsresultaat voor batch mini batch">
              <a:extLst>
                <a:ext uri="{FF2B5EF4-FFF2-40B4-BE49-F238E27FC236}">
                  <a16:creationId xmlns:a16="http://schemas.microsoft.com/office/drawing/2014/main" id="{462E6C6C-84DD-A92D-2F66-724F439EE9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267"/>
            <a:stretch/>
          </p:blipFill>
          <p:spPr bwMode="auto">
            <a:xfrm>
              <a:off x="7906745" y="3954014"/>
              <a:ext cx="2248900" cy="17170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2" descr="Afbeeldingsresultaat voor batch size stochastic">
            <a:extLst>
              <a:ext uri="{FF2B5EF4-FFF2-40B4-BE49-F238E27FC236}">
                <a16:creationId xmlns:a16="http://schemas.microsoft.com/office/drawing/2014/main" id="{1AF6509D-A48B-1196-1A37-48D7C37C6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88687"/>
            <a:ext cx="3705843" cy="326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9639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F9F0-A6C6-2C7B-53BC-D707D034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2:</a:t>
            </a:r>
            <a:br>
              <a:rPr lang="en-US"/>
            </a:br>
            <a:r>
              <a:rPr lang="en-US"/>
              <a:t>Randomness by </a:t>
            </a:r>
            <a:r>
              <a:rPr lang="en-US">
                <a:highlight>
                  <a:srgbClr val="FFFF00"/>
                </a:highlight>
              </a:rPr>
              <a:t>Learning Rate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5B4543-E284-D85E-6DC1-2AF91C549E5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46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30F25-BFAB-D823-F155-A08FADD1A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9" y="4151385"/>
            <a:ext cx="3503712" cy="261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jdelijke aanduiding voor inhoud 1">
            <a:extLst>
              <a:ext uri="{FF2B5EF4-FFF2-40B4-BE49-F238E27FC236}">
                <a16:creationId xmlns:a16="http://schemas.microsoft.com/office/drawing/2014/main" id="{76F198FD-4954-7300-1658-0591E8DD3D98}"/>
              </a:ext>
            </a:extLst>
          </p:cNvPr>
          <p:cNvSpPr txBox="1">
            <a:spLocks/>
          </p:cNvSpPr>
          <p:nvPr/>
        </p:nvSpPr>
        <p:spPr>
          <a:xfrm>
            <a:off x="3960620" y="4738103"/>
            <a:ext cx="8042910" cy="1437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Annealing Cycling LR</a:t>
            </a:r>
          </a:p>
          <a:p>
            <a:endParaRPr lang="en-US"/>
          </a:p>
          <a:p>
            <a:r>
              <a:rPr lang="en-US" b="1">
                <a:solidFill>
                  <a:srgbClr val="0070C0"/>
                </a:solidFill>
              </a:rPr>
              <a:t>			One Cycle </a:t>
            </a:r>
            <a:r>
              <a:rPr lang="en-US">
                <a:sym typeface="Wingdings" panose="05000000000000000000" pitchFamily="2" charset="2"/>
              </a:rPr>
              <a:t></a:t>
            </a:r>
            <a:endParaRPr lang="en-US"/>
          </a:p>
        </p:txBody>
      </p:sp>
      <p:pic>
        <p:nvPicPr>
          <p:cNvPr id="7" name="Picture 2" descr="Gerelateerde afbeelding">
            <a:extLst>
              <a:ext uri="{FF2B5EF4-FFF2-40B4-BE49-F238E27FC236}">
                <a16:creationId xmlns:a16="http://schemas.microsoft.com/office/drawing/2014/main" id="{E1A054E3-AB4C-C11E-0A82-60ECB1459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" y="1642625"/>
            <a:ext cx="3444683" cy="2428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Afbeeldingsresultaat voor batch size stochastic hyper parameter">
            <a:extLst>
              <a:ext uri="{FF2B5EF4-FFF2-40B4-BE49-F238E27FC236}">
                <a16:creationId xmlns:a16="http://schemas.microsoft.com/office/drawing/2014/main" id="{21036DBF-ED59-EA5A-494D-22FB10AAC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294" y="1738963"/>
            <a:ext cx="1773497" cy="114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Machine Learning and Simulated Annealing | by Macromoltek, Inc. | Medium">
            <a:extLst>
              <a:ext uri="{FF2B5EF4-FFF2-40B4-BE49-F238E27FC236}">
                <a16:creationId xmlns:a16="http://schemas.microsoft.com/office/drawing/2014/main" id="{43499299-E18E-489A-6CF8-3A8F73058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167465"/>
            <a:ext cx="4040785" cy="2690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creen-Shot-2018-05-22-at-3.18.37-PM">
            <a:extLst>
              <a:ext uri="{FF2B5EF4-FFF2-40B4-BE49-F238E27FC236}">
                <a16:creationId xmlns:a16="http://schemas.microsoft.com/office/drawing/2014/main" id="{F392E3F9-BE2C-DAA0-1803-FA4C2626D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691" y="1484408"/>
            <a:ext cx="6656436" cy="252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5426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3828C-4147-1833-A975-5560518C1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Cycle Learning Rate Scheme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4DDC4-29BB-CBE4-EEB0-3A399850E22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47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27416-924C-0021-3E60-94BE62EF184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67B46A0-6AE9-8F90-5AB1-B370793F7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939" y="1363532"/>
            <a:ext cx="8072120" cy="549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9971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A5BC3-4E17-7D4A-3DA8-95236970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3:</a:t>
            </a:r>
            <a:br>
              <a:rPr lang="en-US"/>
            </a:br>
            <a:r>
              <a:rPr lang="en-US">
                <a:highlight>
                  <a:srgbClr val="FFFF00"/>
                </a:highlight>
              </a:rPr>
              <a:t>Momentum</a:t>
            </a:r>
            <a:r>
              <a:rPr lang="en-US"/>
              <a:t> Optimizer (adam)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EA2048-F816-BF0D-5673-3AEB68C1E3A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48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204C1-3CF3-F829-404E-81EF767204A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fbeeldingsresultaat voor adam rmsprop">
            <a:extLst>
              <a:ext uri="{FF2B5EF4-FFF2-40B4-BE49-F238E27FC236}">
                <a16:creationId xmlns:a16="http://schemas.microsoft.com/office/drawing/2014/main" id="{B25C884A-99AC-5680-7FAF-70FA4158925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36" y="2083097"/>
            <a:ext cx="5652165" cy="437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Gerelateerde afbeelding">
            <a:extLst>
              <a:ext uri="{FF2B5EF4-FFF2-40B4-BE49-F238E27FC236}">
                <a16:creationId xmlns:a16="http://schemas.microsoft.com/office/drawing/2014/main" id="{99AE1068-A18B-C910-0B28-A92F424E9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140" y="1884735"/>
            <a:ext cx="4211972" cy="223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Tijdelijke aanduiding voor inhoud 10">
            <a:extLst>
              <a:ext uri="{FF2B5EF4-FFF2-40B4-BE49-F238E27FC236}">
                <a16:creationId xmlns:a16="http://schemas.microsoft.com/office/drawing/2014/main" id="{1F5561C1-9569-E835-FEDB-A4A2A62E43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747" t="18889" r="12492" b="10427"/>
          <a:stretch/>
        </p:blipFill>
        <p:spPr>
          <a:xfrm>
            <a:off x="6900664" y="4170751"/>
            <a:ext cx="4392456" cy="224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886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0880FC-8F0B-B501-1662-D93948F7367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0248A-FD0F-534C-919E-E8EB9B0FC062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7B2616-6D20-DDAF-9F76-979A281DCC49}"/>
              </a:ext>
            </a:extLst>
          </p:cNvPr>
          <p:cNvSpPr txBox="1">
            <a:spLocks/>
          </p:cNvSpPr>
          <p:nvPr/>
        </p:nvSpPr>
        <p:spPr>
          <a:xfrm>
            <a:off x="515936" y="441579"/>
            <a:ext cx="11160125" cy="1116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Challenge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		</a:t>
            </a:r>
          </a:p>
          <a:p>
            <a:pPr marL="0" marR="0" lvl="0" indent="0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>
              <a:solidFill>
                <a:srgbClr val="FFFFFF"/>
              </a:solidFill>
            </a:endParaRPr>
          </a:p>
          <a:p>
            <a:pPr marL="0" marR="0" lvl="0" indent="0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			Vanishing Gradients</a:t>
            </a: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pic>
        <p:nvPicPr>
          <p:cNvPr id="4" name="Picture 2" descr="Vanish (stain remover) - Wikipedia">
            <a:extLst>
              <a:ext uri="{FF2B5EF4-FFF2-40B4-BE49-F238E27FC236}">
                <a16:creationId xmlns:a16="http://schemas.microsoft.com/office/drawing/2014/main" id="{A35BAA5B-6FDE-7808-81DD-8DC14E07F39B}"/>
              </a:ext>
            </a:extLst>
          </p:cNvPr>
          <p:cNvPicPr>
            <a:picLocks noGrp="1" noChangeAspect="1" noChangeArrowheads="1"/>
          </p:cNvPicPr>
          <p:nvPr>
            <p:ph type="media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728" y="147206"/>
            <a:ext cx="5171272" cy="6598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1168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9240-F6F6-6F84-E1B1-2B514B2E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Vanishing Gradient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51406C-37CB-5D2B-A926-22AA944509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D03A2-6816-AA48-4C46-924E0AA967F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6">
            <a:extLst>
              <a:ext uri="{FF2B5EF4-FFF2-40B4-BE49-F238E27FC236}">
                <a16:creationId xmlns:a16="http://schemas.microsoft.com/office/drawing/2014/main" id="{6515F7E2-BE2A-B777-6BB2-4091D8CB61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78" t="5441" r="4868" b="18529"/>
          <a:stretch/>
        </p:blipFill>
        <p:spPr>
          <a:xfrm>
            <a:off x="-2" y="2238527"/>
            <a:ext cx="7056784" cy="3366256"/>
          </a:xfrm>
          <a:prstGeom prst="rect">
            <a:avLst/>
          </a:prstGeom>
        </p:spPr>
      </p:pic>
      <p:pic>
        <p:nvPicPr>
          <p:cNvPr id="6" name="Afbeelding 8">
            <a:extLst>
              <a:ext uri="{FF2B5EF4-FFF2-40B4-BE49-F238E27FC236}">
                <a16:creationId xmlns:a16="http://schemas.microsoft.com/office/drawing/2014/main" id="{5916C071-BEA2-55AE-2465-E49A81724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116" y="4081503"/>
            <a:ext cx="4656627" cy="2775338"/>
          </a:xfrm>
          <a:prstGeom prst="rect">
            <a:avLst/>
          </a:prstGeom>
        </p:spPr>
      </p:pic>
      <p:pic>
        <p:nvPicPr>
          <p:cNvPr id="7" name="Picture 2" descr="How Does Back-Propagation in Artificial Neural Networks Work? | by Anas  Al-Masri | Towards Data Science">
            <a:extLst>
              <a:ext uri="{FF2B5EF4-FFF2-40B4-BE49-F238E27FC236}">
                <a16:creationId xmlns:a16="http://schemas.microsoft.com/office/drawing/2014/main" id="{1C7FF3F8-0C43-45E1-DF39-13575EDDDF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3" r="19384" b="-2917"/>
          <a:stretch/>
        </p:blipFill>
        <p:spPr bwMode="auto">
          <a:xfrm>
            <a:off x="8823960" y="-1610"/>
            <a:ext cx="3368041" cy="3023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2691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52C8-9596-D083-8156-5AFA4D614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Solution:</a:t>
            </a:r>
            <a:br>
              <a:rPr lang="en-US"/>
            </a:br>
            <a:r>
              <a:rPr lang="en-US"/>
              <a:t>Use ReLu activations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724B48-E059-2B4E-DD5F-51B1C9EAF3A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51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03793-5A07-9273-FF63-0A38A98AFED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6">
            <a:extLst>
              <a:ext uri="{FF2B5EF4-FFF2-40B4-BE49-F238E27FC236}">
                <a16:creationId xmlns:a16="http://schemas.microsoft.com/office/drawing/2014/main" id="{8DB178C3-92AA-4B5B-E772-12C677AEC2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37" t="7309" r="4772" b="21882"/>
          <a:stretch/>
        </p:blipFill>
        <p:spPr>
          <a:xfrm>
            <a:off x="617220" y="1628775"/>
            <a:ext cx="8961120" cy="4006273"/>
          </a:xfrm>
          <a:prstGeom prst="rect">
            <a:avLst/>
          </a:prstGeom>
        </p:spPr>
      </p:pic>
      <p:pic>
        <p:nvPicPr>
          <p:cNvPr id="6" name="Picture 2" descr="Human Resources 101: Before You Fire - DealerStrong">
            <a:extLst>
              <a:ext uri="{FF2B5EF4-FFF2-40B4-BE49-F238E27FC236}">
                <a16:creationId xmlns:a16="http://schemas.microsoft.com/office/drawing/2014/main" id="{CC018581-3B76-23A5-F80E-75A7492098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8" t="31605" r="9474" b="3164"/>
          <a:stretch/>
        </p:blipFill>
        <p:spPr bwMode="auto">
          <a:xfrm>
            <a:off x="0" y="4529061"/>
            <a:ext cx="4226030" cy="24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n Overview to Vanishing Gradient Problem - Sefik Ilkin Serengil">
            <a:extLst>
              <a:ext uri="{FF2B5EF4-FFF2-40B4-BE49-F238E27FC236}">
                <a16:creationId xmlns:a16="http://schemas.microsoft.com/office/drawing/2014/main" id="{9C150EE2-AEC7-36EF-BF52-E5DCC8B7A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2977" y="-34725"/>
            <a:ext cx="3107145" cy="256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0449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F122-02ED-E79B-321E-56910916C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Variants: Leaky ReLU, ELU, 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F98330-538C-B890-11D5-7BB532BB14F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52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709BF-9957-FF7E-2FCF-972FB19B3B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Fixing the ‘dying’ ReLU: stuck in negative side, always outputting zero</a:t>
            </a:r>
          </a:p>
        </p:txBody>
      </p:sp>
      <p:pic>
        <p:nvPicPr>
          <p:cNvPr id="5" name="Picture 2" descr="Various forms of non-linear activation functions (Figure adopted from... |  Download Scientific Diagram">
            <a:extLst>
              <a:ext uri="{FF2B5EF4-FFF2-40B4-BE49-F238E27FC236}">
                <a16:creationId xmlns:a16="http://schemas.microsoft.com/office/drawing/2014/main" id="{C710D90B-420C-45AA-0140-A9DBE1C90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875" y="2349456"/>
            <a:ext cx="5806206" cy="453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0154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0880FC-8F0B-B501-1662-D93948F7367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0248A-FD0F-534C-919E-E8EB9B0FC062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7B2616-6D20-DDAF-9F76-979A281DCC49}"/>
              </a:ext>
            </a:extLst>
          </p:cNvPr>
          <p:cNvSpPr txBox="1">
            <a:spLocks/>
          </p:cNvSpPr>
          <p:nvPr/>
        </p:nvSpPr>
        <p:spPr>
          <a:xfrm>
            <a:off x="515936" y="441579"/>
            <a:ext cx="11160125" cy="1116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Challenge</a:t>
            </a: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>
              <a:solidFill>
                <a:srgbClr val="FFFFFF"/>
              </a:solidFill>
            </a:endParaRPr>
          </a:p>
          <a:p>
            <a:pPr marL="0" marR="0" lvl="0" indent="0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>
                <a:solidFill>
                  <a:srgbClr val="FFFFFF"/>
                </a:solidFill>
              </a:rPr>
              <a:t>			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Co-variate shift</a:t>
            </a: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pic>
        <p:nvPicPr>
          <p:cNvPr id="6" name="Picture 2" descr="Slide to the right... Slide to the left.. | Funny lockscreen, Funny screen  savers, Laugh">
            <a:extLst>
              <a:ext uri="{FF2B5EF4-FFF2-40B4-BE49-F238E27FC236}">
                <a16:creationId xmlns:a16="http://schemas.microsoft.com/office/drawing/2014/main" id="{0305D9E9-76BD-E47E-3D07-1FED13F91D28}"/>
              </a:ext>
            </a:extLst>
          </p:cNvPr>
          <p:cNvPicPr>
            <a:picLocks noGrp="1" noChangeAspect="1" noChangeArrowheads="1"/>
          </p:cNvPicPr>
          <p:nvPr>
            <p:ph type="media" sz="quarter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081" y="0"/>
            <a:ext cx="5247919" cy="601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3577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8257-4832-7E51-50DA-9931334A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Internal Covariate Shift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2FB422-B2A2-C0E7-4C87-DD9AA79D222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54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6AEC3-D714-5EEC-CFE8-20E0D398847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6">
            <a:extLst>
              <a:ext uri="{FF2B5EF4-FFF2-40B4-BE49-F238E27FC236}">
                <a16:creationId xmlns:a16="http://schemas.microsoft.com/office/drawing/2014/main" id="{BACF70A6-6692-218D-B5AF-52DD78076C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94" t="6388" r="23125" b="26945"/>
          <a:stretch/>
        </p:blipFill>
        <p:spPr>
          <a:xfrm>
            <a:off x="6962378" y="1900879"/>
            <a:ext cx="4909466" cy="2601063"/>
          </a:xfrm>
          <a:prstGeom prst="rect">
            <a:avLst/>
          </a:prstGeom>
        </p:spPr>
      </p:pic>
      <p:pic>
        <p:nvPicPr>
          <p:cNvPr id="6" name="Picture 4" descr="Sigmoid function - Artificial Intelligence for Big Data [Book]">
            <a:extLst>
              <a:ext uri="{FF2B5EF4-FFF2-40B4-BE49-F238E27FC236}">
                <a16:creationId xmlns:a16="http://schemas.microsoft.com/office/drawing/2014/main" id="{FED9DF5C-C3C2-8967-71C1-F6C2CC806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732" y="4236837"/>
            <a:ext cx="3593734" cy="173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Why It's Important to Find Your Sweet Spot - His Unmeasured Grace">
            <a:extLst>
              <a:ext uri="{FF2B5EF4-FFF2-40B4-BE49-F238E27FC236}">
                <a16:creationId xmlns:a16="http://schemas.microsoft.com/office/drawing/2014/main" id="{33AD0EC8-68D1-5616-D42C-047C4C906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367" y="1420431"/>
            <a:ext cx="4663167" cy="466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0355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61D5C-5F9C-F0EE-4BB1-3FB4AD1E9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Solution:</a:t>
            </a:r>
            <a:br>
              <a:rPr lang="en-US"/>
            </a:br>
            <a:r>
              <a:rPr lang="en-US"/>
              <a:t>Batch Normalization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CF226-42ED-B773-008B-BD2BDE645A2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55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34DE9-940B-AF08-00FC-73CA99BA133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9">
            <a:extLst>
              <a:ext uri="{FF2B5EF4-FFF2-40B4-BE49-F238E27FC236}">
                <a16:creationId xmlns:a16="http://schemas.microsoft.com/office/drawing/2014/main" id="{D5D974DA-E961-DD92-A382-1A3B99DC28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50" t="8056" r="23125" b="13334"/>
          <a:stretch/>
        </p:blipFill>
        <p:spPr>
          <a:xfrm>
            <a:off x="4356378" y="1917700"/>
            <a:ext cx="7071644" cy="4427538"/>
          </a:xfrm>
          <a:prstGeom prst="rect">
            <a:avLst/>
          </a:prstGeom>
        </p:spPr>
      </p:pic>
      <p:pic>
        <p:nvPicPr>
          <p:cNvPr id="6" name="Google Shape;246;p43">
            <a:extLst>
              <a:ext uri="{FF2B5EF4-FFF2-40B4-BE49-F238E27FC236}">
                <a16:creationId xmlns:a16="http://schemas.microsoft.com/office/drawing/2014/main" id="{F89F05C2-4695-D9DF-552E-D2A126356E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1199" t="14770"/>
          <a:stretch/>
        </p:blipFill>
        <p:spPr>
          <a:xfrm>
            <a:off x="996005" y="2221915"/>
            <a:ext cx="1800200" cy="227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7;p43">
            <a:extLst>
              <a:ext uri="{FF2B5EF4-FFF2-40B4-BE49-F238E27FC236}">
                <a16:creationId xmlns:a16="http://schemas.microsoft.com/office/drawing/2014/main" id="{6ED14C6A-041E-F537-6461-B61730C914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2756"/>
          <a:stretch/>
        </p:blipFill>
        <p:spPr>
          <a:xfrm>
            <a:off x="628664" y="4397637"/>
            <a:ext cx="2633501" cy="14396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0838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0880FC-8F0B-B501-1662-D93948F7367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0248A-FD0F-534C-919E-E8EB9B0FC062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7B2616-6D20-DDAF-9F76-979A281DCC49}"/>
              </a:ext>
            </a:extLst>
          </p:cNvPr>
          <p:cNvSpPr txBox="1">
            <a:spLocks/>
          </p:cNvSpPr>
          <p:nvPr/>
        </p:nvSpPr>
        <p:spPr>
          <a:xfrm>
            <a:off x="515936" y="441579"/>
            <a:ext cx="11160125" cy="1116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Challenge</a:t>
            </a: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			</a:t>
            </a: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Overfitting</a:t>
            </a: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pic>
        <p:nvPicPr>
          <p:cNvPr id="4" name="Picture 2" descr="How being too flexible can be bad for yoga – mind body miko">
            <a:extLst>
              <a:ext uri="{FF2B5EF4-FFF2-40B4-BE49-F238E27FC236}">
                <a16:creationId xmlns:a16="http://schemas.microsoft.com/office/drawing/2014/main" id="{B92614CA-DFEF-B2C6-A9B8-F415E181C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761" y="-1"/>
            <a:ext cx="4968240" cy="3526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Machine Learning - (Overfitting|Overtraining|Robust|Generalization)  (Underfitting)">
            <a:extLst>
              <a:ext uri="{FF2B5EF4-FFF2-40B4-BE49-F238E27FC236}">
                <a16:creationId xmlns:a16="http://schemas.microsoft.com/office/drawing/2014/main" id="{254DAA68-8BCC-08CE-B4E2-C53A4694E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761" y="3529281"/>
            <a:ext cx="4968239" cy="332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7588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564F-5351-A176-6F55-27F67564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Solution:</a:t>
            </a:r>
            <a:br>
              <a:rPr lang="en-US"/>
            </a:br>
            <a:r>
              <a:rPr lang="en-US"/>
              <a:t>Regularize the training process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68AF4-CBCC-1473-CF6E-51BA16B6A08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57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9223D-C36F-0D62-1A7F-24D75216F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538" y="1851169"/>
            <a:ext cx="9018921" cy="427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40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917AE-D464-7150-472E-07255BE3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1: Early Stopping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A0186C-1083-3CB4-0EE6-AE43D757C48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58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09FE-A6A6-6042-02C2-D35B6434D3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Regularization - Pranav's Blog">
            <a:extLst>
              <a:ext uri="{FF2B5EF4-FFF2-40B4-BE49-F238E27FC236}">
                <a16:creationId xmlns:a16="http://schemas.microsoft.com/office/drawing/2014/main" id="{25A6E2C8-415E-6498-A5D9-96687EF51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22" y="2804763"/>
            <a:ext cx="5481268" cy="241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Afbeelding 2">
            <a:extLst>
              <a:ext uri="{FF2B5EF4-FFF2-40B4-BE49-F238E27FC236}">
                <a16:creationId xmlns:a16="http://schemas.microsoft.com/office/drawing/2014/main" id="{CF5841EC-FA17-BC70-74E9-34B87E172F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469" t="22799" r="20468" b="26541"/>
          <a:stretch/>
        </p:blipFill>
        <p:spPr>
          <a:xfrm>
            <a:off x="5733190" y="1505338"/>
            <a:ext cx="4640585" cy="3474318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7FFC4F2-00D6-DE0D-FB99-759BE14EB3F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443" y="3781076"/>
            <a:ext cx="3754762" cy="250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6689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C429-6578-6E65-A9A8-81E45BD1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2: L2 regularization</a:t>
            </a:r>
            <a:br>
              <a:rPr lang="en-US" dirty="0"/>
            </a:br>
            <a:r>
              <a:rPr lang="en-US" sz="2000" dirty="0"/>
              <a:t>(L2: using squares to get rid of the sign)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990723-DB76-A36B-5A48-C21EB9BB9D5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59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E04EC-DDF8-BEDA-34B4-4D0305EA3AA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fbeeldingsresultaat voor no big weights">
            <a:extLst>
              <a:ext uri="{FF2B5EF4-FFF2-40B4-BE49-F238E27FC236}">
                <a16:creationId xmlns:a16="http://schemas.microsoft.com/office/drawing/2014/main" id="{C784A5DD-F481-303F-FFFC-8E5ACC30F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83" y="2735402"/>
            <a:ext cx="4173007" cy="2347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A13957-30D9-D118-EBD3-9049A011E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36852"/>
            <a:ext cx="5630284" cy="399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654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CEF3A-92DE-7780-3A51-4BCC626DF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Regularization 3: Dropout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52F2C2-4629-D18D-EABD-151F9BD279A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9B03C-DAB1-4441-E6C2-B50E9355F2D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Afbeelding 2">
            <a:extLst>
              <a:ext uri="{FF2B5EF4-FFF2-40B4-BE49-F238E27FC236}">
                <a16:creationId xmlns:a16="http://schemas.microsoft.com/office/drawing/2014/main" id="{1EA1DE78-21FE-2114-2E6D-A453DB1518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35" t="20269" r="13124" b="22792"/>
          <a:stretch/>
        </p:blipFill>
        <p:spPr>
          <a:xfrm>
            <a:off x="-15240" y="2451735"/>
            <a:ext cx="6377940" cy="261747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92F6A5C-8D0B-9CF5-02F1-7A0326BABBA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00" y="2103120"/>
            <a:ext cx="58293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1326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3AEE3-2633-3E0D-1365-46718E23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Regularization 3: Ensemble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C30750-43F4-088D-B5CD-7B63A093AEA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61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777CC-B498-3953-9318-1B61E0F1BE8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Ensemble Method – معتز خالد سعد | Motaz Saad">
            <a:extLst>
              <a:ext uri="{FF2B5EF4-FFF2-40B4-BE49-F238E27FC236}">
                <a16:creationId xmlns:a16="http://schemas.microsoft.com/office/drawing/2014/main" id="{019930F5-EBF0-C19F-3ACA-CF911C972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065" y="1420431"/>
            <a:ext cx="8967868" cy="496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3623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6840-AF0F-6DB2-44F9-D295AFDD3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Regularization 3: Data Augmentation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49D8F-4CB4-922F-ECB3-3E9E11D226B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62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65E14-78AB-2048-B6E8-13F5D775FB2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C0DA2-12E7-436B-1DE6-F16DD1A69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16449"/>
            <a:ext cx="7572132" cy="5229225"/>
          </a:xfrm>
          <a:prstGeom prst="rect">
            <a:avLst/>
          </a:prstGeom>
        </p:spPr>
      </p:pic>
      <p:pic>
        <p:nvPicPr>
          <p:cNvPr id="7" name="Afbeelding 3">
            <a:extLst>
              <a:ext uri="{FF2B5EF4-FFF2-40B4-BE49-F238E27FC236}">
                <a16:creationId xmlns:a16="http://schemas.microsoft.com/office/drawing/2014/main" id="{582A8890-592C-32D7-781B-F01850C142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89" r="6817" b="11666"/>
          <a:stretch/>
        </p:blipFill>
        <p:spPr>
          <a:xfrm>
            <a:off x="7380183" y="3048124"/>
            <a:ext cx="4811817" cy="216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1089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E282A-925A-4D5D-BB72-39E0BAB30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12326"/>
            <a:ext cx="11160125" cy="839475"/>
          </a:xfrm>
        </p:spPr>
        <p:txBody>
          <a:bodyPr/>
          <a:lstStyle/>
          <a:p>
            <a:r>
              <a:rPr lang="en-US"/>
              <a:t>Data Augmentation: </a:t>
            </a:r>
            <a:r>
              <a:rPr lang="en-US" sz="3600"/>
              <a:t>even multiclass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59E5D-BD33-022D-B221-2B6477B2B37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63</a:t>
            </a:fld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AA9FF4-0B2A-B939-166A-C4153E8B0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73" y="951801"/>
            <a:ext cx="10352142" cy="47792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E24ED6-A761-56CA-35BE-9CEBB3BA3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9274"/>
            <a:ext cx="3841025" cy="135691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A1A527A-2286-29E4-1894-C1A25B830344}"/>
              </a:ext>
            </a:extLst>
          </p:cNvPr>
          <p:cNvSpPr/>
          <p:nvPr/>
        </p:nvSpPr>
        <p:spPr>
          <a:xfrm>
            <a:off x="0" y="2560320"/>
            <a:ext cx="12047220" cy="3646170"/>
          </a:xfrm>
          <a:prstGeom prst="ellipse">
            <a:avLst/>
          </a:prstGeom>
          <a:noFill/>
          <a:ln w="57150">
            <a:solidFill>
              <a:srgbClr val="FA64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149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DD24-743B-2F7E-4AB2-ECF718EF3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Library: Albumentations.ai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72283B-1C7B-38A7-D888-8695A6A2457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64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E946A-F3B8-120C-D61F-42D5D91FAC1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B3121C-1958-94B8-4BE1-15FCBB79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080" y="1399545"/>
            <a:ext cx="5671840" cy="543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726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0880FC-8F0B-B501-1662-D93948F7367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0248A-FD0F-534C-919E-E8EB9B0FC062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7B2616-6D20-DDAF-9F76-979A281DCC49}"/>
              </a:ext>
            </a:extLst>
          </p:cNvPr>
          <p:cNvSpPr txBox="1">
            <a:spLocks/>
          </p:cNvSpPr>
          <p:nvPr/>
        </p:nvSpPr>
        <p:spPr>
          <a:xfrm>
            <a:off x="515936" y="441579"/>
            <a:ext cx="11160125" cy="1116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FFFFFF"/>
                </a:solidFill>
              </a:rPr>
              <a:t>Common Neural Network Architectures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i="1" dirty="0">
                <a:solidFill>
                  <a:srgbClr val="FFFFFF"/>
                </a:solidFill>
              </a:rPr>
              <a:t>‘Neural Network Zoo’</a:t>
            </a:r>
            <a:endParaRPr kumimoji="0" lang="en-US" sz="4000" b="1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pic>
        <p:nvPicPr>
          <p:cNvPr id="5122" name="Picture 2" descr="The Neural Network Zoo - The Asimov Institute">
            <a:extLst>
              <a:ext uri="{FF2B5EF4-FFF2-40B4-BE49-F238E27FC236}">
                <a16:creationId xmlns:a16="http://schemas.microsoft.com/office/drawing/2014/main" id="{2165F3E6-38B0-96B7-1FE3-F9F5A191C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007" y="2291508"/>
            <a:ext cx="2685985" cy="456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5060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00002-3F40-EA4A-943A-322792EC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6" y="0"/>
            <a:ext cx="11160125" cy="1116012"/>
          </a:xfrm>
        </p:spPr>
        <p:txBody>
          <a:bodyPr/>
          <a:lstStyle/>
          <a:p>
            <a:r>
              <a:rPr lang="en-US" dirty="0"/>
              <a:t>Convolutional Neural Network (CNN)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334323-0E2A-9E2B-21D8-68B7873D123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66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E78CC-9A98-5F3F-30DC-5BA5B7A7629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8978" y="1116012"/>
            <a:ext cx="11446526" cy="348525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highlight>
                  <a:srgbClr val="FFFF00"/>
                </a:highlight>
                <a:latin typeface="+mj-lt"/>
              </a:rPr>
              <a:t>Purpose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</a:p>
          <a:p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Designed for </a:t>
            </a:r>
            <a:r>
              <a:rPr lang="en-US" b="1" dirty="0">
                <a:latin typeface="+mj-lt"/>
              </a:rPr>
              <a:t>spatial data (images). </a:t>
            </a:r>
            <a:r>
              <a:rPr lang="en-US" dirty="0">
                <a:latin typeface="+mj-lt"/>
              </a:rPr>
              <a:t>CNNs excel at capturing local patterns like edges, textures, and shapes.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highlight>
                  <a:srgbClr val="FFFF00"/>
                </a:highlight>
                <a:latin typeface="+mj-lt"/>
              </a:rPr>
              <a:t>Architecture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</a:p>
          <a:p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Composed of layers like:</a:t>
            </a:r>
          </a:p>
          <a:p>
            <a:pPr lvl="1"/>
            <a:r>
              <a:rPr lang="en-US" b="1" dirty="0">
                <a:latin typeface="+mj-lt"/>
              </a:rPr>
              <a:t>Convolutional layers</a:t>
            </a:r>
            <a:r>
              <a:rPr lang="en-US" dirty="0">
                <a:latin typeface="+mj-lt"/>
              </a:rPr>
              <a:t> (feature extraction)</a:t>
            </a:r>
          </a:p>
          <a:p>
            <a:pPr lvl="1"/>
            <a:r>
              <a:rPr lang="en-US" b="1" dirty="0">
                <a:latin typeface="+mj-lt"/>
              </a:rPr>
              <a:t>Pooling layers</a:t>
            </a:r>
            <a:r>
              <a:rPr lang="en-US" dirty="0">
                <a:latin typeface="+mj-lt"/>
              </a:rPr>
              <a:t> (downsampling)</a:t>
            </a:r>
          </a:p>
          <a:p>
            <a:pPr lvl="1"/>
            <a:r>
              <a:rPr lang="en-US" b="1" dirty="0">
                <a:latin typeface="+mj-lt"/>
              </a:rPr>
              <a:t>Fully connected layers</a:t>
            </a:r>
            <a:r>
              <a:rPr lang="en-US" dirty="0">
                <a:latin typeface="+mj-lt"/>
              </a:rPr>
              <a:t> (classification) Often ends with a softmax or sigmoid layer for prediction.</a:t>
            </a:r>
          </a:p>
          <a:p>
            <a:endParaRPr lang="en-US" b="1" dirty="0">
              <a:highlight>
                <a:srgbClr val="FFFF00"/>
              </a:highlight>
              <a:latin typeface="+mj-lt"/>
            </a:endParaRPr>
          </a:p>
          <a:p>
            <a:r>
              <a:rPr lang="en-US" b="1" dirty="0">
                <a:highlight>
                  <a:srgbClr val="FFFF00"/>
                </a:highlight>
                <a:latin typeface="+mj-lt"/>
              </a:rPr>
              <a:t>Output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</a:p>
          <a:p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a </a:t>
            </a:r>
            <a:r>
              <a:rPr lang="en-US" b="1" dirty="0">
                <a:latin typeface="+mj-lt"/>
              </a:rPr>
              <a:t>class label</a:t>
            </a:r>
            <a:r>
              <a:rPr lang="en-US" dirty="0">
                <a:latin typeface="+mj-lt"/>
              </a:rPr>
              <a:t> or </a:t>
            </a:r>
            <a:r>
              <a:rPr lang="en-US" b="1" dirty="0">
                <a:latin typeface="+mj-lt"/>
              </a:rPr>
              <a:t>probability distribution</a:t>
            </a:r>
            <a:r>
              <a:rPr lang="en-US" dirty="0">
                <a:latin typeface="+mj-lt"/>
              </a:rPr>
              <a:t> over classes (e.g., cat vs. dog), or a </a:t>
            </a:r>
            <a:r>
              <a:rPr lang="en-US" b="1" dirty="0">
                <a:latin typeface="+mj-lt"/>
              </a:rPr>
              <a:t>feature map</a:t>
            </a:r>
            <a:r>
              <a:rPr lang="en-US" dirty="0">
                <a:latin typeface="+mj-lt"/>
              </a:rPr>
              <a:t> if used in intermediate stages.</a:t>
            </a:r>
          </a:p>
          <a:p>
            <a:endParaRPr lang="en-US" dirty="0"/>
          </a:p>
        </p:txBody>
      </p:sp>
      <p:pic>
        <p:nvPicPr>
          <p:cNvPr id="3074" name="Picture 2" descr="Image Classification using Convolutional Neural Network and Vision  Transformer | by Abhishek K | Medium">
            <a:extLst>
              <a:ext uri="{FF2B5EF4-FFF2-40B4-BE49-F238E27FC236}">
                <a16:creationId xmlns:a16="http://schemas.microsoft.com/office/drawing/2014/main" id="{90CC31E7-E238-08FB-C4E4-F95DDD72C2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66"/>
          <a:stretch>
            <a:fillRect/>
          </a:stretch>
        </p:blipFill>
        <p:spPr bwMode="auto">
          <a:xfrm>
            <a:off x="2482290" y="4534980"/>
            <a:ext cx="7227418" cy="232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8865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n Image Compression Approach Based on Convolutional AutoEncoder |  SpringerLink">
            <a:extLst>
              <a:ext uri="{FF2B5EF4-FFF2-40B4-BE49-F238E27FC236}">
                <a16:creationId xmlns:a16="http://schemas.microsoft.com/office/drawing/2014/main" id="{C4657A0B-4D1E-BDA6-8DB0-E5EFC78D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54" y="3899971"/>
            <a:ext cx="6028179" cy="293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D4FF9E-0CDB-9F16-1A50-5158DD3C9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112" y="0"/>
            <a:ext cx="10948950" cy="1116012"/>
          </a:xfrm>
        </p:spPr>
        <p:txBody>
          <a:bodyPr/>
          <a:lstStyle/>
          <a:p>
            <a:r>
              <a:rPr lang="en-US" sz="1800" dirty="0"/>
              <a:t>(Denoising / Variational) </a:t>
            </a:r>
            <a:r>
              <a:rPr lang="en-US" dirty="0"/>
              <a:t>Auto-encoder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E5F01C-89A7-ED9B-9FCF-C65310DD925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67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6CF11-08B6-6BD2-5DC8-99BBB93D6D5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27113" y="969484"/>
            <a:ext cx="10948950" cy="293048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highlight>
                  <a:srgbClr val="FFFF00"/>
                </a:highlight>
                <a:latin typeface="+mj-lt"/>
              </a:rPr>
              <a:t>Purpose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  <a:r>
              <a:rPr lang="en-US" dirty="0">
                <a:latin typeface="+mj-lt"/>
              </a:rPr>
              <a:t>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Learns to compress and reconstruct data. It consists of:</a:t>
            </a:r>
          </a:p>
          <a:p>
            <a:pPr lvl="1"/>
            <a:r>
              <a:rPr lang="en-US" b="1" dirty="0">
                <a:latin typeface="+mj-lt"/>
              </a:rPr>
              <a:t>Encoder</a:t>
            </a:r>
            <a:r>
              <a:rPr lang="en-US" dirty="0">
                <a:latin typeface="+mj-lt"/>
              </a:rPr>
              <a:t>: Compresses input into a latent representation.</a:t>
            </a:r>
          </a:p>
          <a:p>
            <a:pPr lvl="1"/>
            <a:r>
              <a:rPr lang="en-US" b="1" dirty="0">
                <a:latin typeface="+mj-lt"/>
              </a:rPr>
              <a:t>Decoder</a:t>
            </a:r>
            <a:r>
              <a:rPr lang="en-US" dirty="0">
                <a:latin typeface="+mj-lt"/>
              </a:rPr>
              <a:t>: Reconstructs the input from the latent representation.</a:t>
            </a: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highlight>
                  <a:srgbClr val="FFFF00"/>
                </a:highlight>
                <a:latin typeface="+mj-lt"/>
              </a:rPr>
              <a:t>Architecture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Built using </a:t>
            </a:r>
            <a:r>
              <a:rPr lang="en-US" b="1" dirty="0">
                <a:latin typeface="+mj-lt"/>
              </a:rPr>
              <a:t>fully connected layers</a:t>
            </a:r>
            <a:r>
              <a:rPr lang="en-US" dirty="0">
                <a:latin typeface="+mj-lt"/>
              </a:rPr>
              <a:t>, </a:t>
            </a:r>
            <a:r>
              <a:rPr lang="en-US" b="1" dirty="0">
                <a:latin typeface="+mj-lt"/>
              </a:rPr>
              <a:t>convolutional layers</a:t>
            </a:r>
            <a:r>
              <a:rPr lang="en-US" dirty="0">
                <a:latin typeface="+mj-lt"/>
              </a:rPr>
              <a:t>, or a mix. </a:t>
            </a: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highlight>
                  <a:srgbClr val="FFFF00"/>
                </a:highlight>
                <a:latin typeface="+mj-lt"/>
              </a:rPr>
              <a:t>Output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Typically reconstructs the </a:t>
            </a:r>
            <a:r>
              <a:rPr lang="en-US" b="1" dirty="0">
                <a:latin typeface="+mj-lt"/>
              </a:rPr>
              <a:t>entire input</a:t>
            </a:r>
            <a:r>
              <a:rPr lang="en-US" dirty="0">
                <a:latin typeface="+mj-lt"/>
              </a:rPr>
              <a:t>, not a per-pixel classification.</a:t>
            </a:r>
          </a:p>
          <a:p>
            <a:endParaRPr lang="en-US" dirty="0"/>
          </a:p>
        </p:txBody>
      </p:sp>
      <p:pic>
        <p:nvPicPr>
          <p:cNvPr id="3074" name="Picture 2" descr="Introduction to autoencoders.">
            <a:extLst>
              <a:ext uri="{FF2B5EF4-FFF2-40B4-BE49-F238E27FC236}">
                <a16:creationId xmlns:a16="http://schemas.microsoft.com/office/drawing/2014/main" id="{EF896D45-EBE3-F7AB-0F61-5C85E0274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471" y="969484"/>
            <a:ext cx="3914529" cy="178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Variational autoencoder - Wikipedia">
            <a:extLst>
              <a:ext uri="{FF2B5EF4-FFF2-40B4-BE49-F238E27FC236}">
                <a16:creationId xmlns:a16="http://schemas.microsoft.com/office/drawing/2014/main" id="{D7665102-A26A-3643-4AFB-A118F07F7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704" y="4276271"/>
            <a:ext cx="3023900" cy="130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BE3C65B-6E59-2327-9838-6240D210D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205" y="3396183"/>
            <a:ext cx="1990897" cy="100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Variational autoencoders.">
            <a:extLst>
              <a:ext uri="{FF2B5EF4-FFF2-40B4-BE49-F238E27FC236}">
                <a16:creationId xmlns:a16="http://schemas.microsoft.com/office/drawing/2014/main" id="{D4C32A24-F5EF-67B6-6C32-AAD79029A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794" y="5475498"/>
            <a:ext cx="2921465" cy="135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1165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43D44-A622-4C8F-BF8E-2566D003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eural network types - Questions and Answers ​in MRI">
            <a:extLst>
              <a:ext uri="{FF2B5EF4-FFF2-40B4-BE49-F238E27FC236}">
                <a16:creationId xmlns:a16="http://schemas.microsoft.com/office/drawing/2014/main" id="{6EC914AD-6E35-6156-6943-4FC724437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1" y="3725762"/>
            <a:ext cx="12144289" cy="313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189818-4B47-4B6C-D4C5-6FC5EC08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5" y="24190"/>
            <a:ext cx="11160125" cy="1116012"/>
          </a:xfrm>
        </p:spPr>
        <p:txBody>
          <a:bodyPr/>
          <a:lstStyle/>
          <a:p>
            <a:r>
              <a:rPr lang="en-US" dirty="0"/>
              <a:t>Fully Convolutional Network (FCN)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90975D-5BAA-14BF-D5D2-5A0282D19F2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0248A-FD0F-534C-919E-E8EB9B0FC062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1D96F-BF2B-8B3A-EDDF-A77E2A28AB9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947451"/>
            <a:ext cx="11160127" cy="296871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highlight>
                  <a:srgbClr val="FFFF00"/>
                </a:highlight>
                <a:latin typeface="+mj-lt"/>
              </a:rPr>
              <a:t>Purpose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Designed for </a:t>
            </a:r>
            <a:r>
              <a:rPr lang="en-US" b="1" dirty="0">
                <a:latin typeface="+mj-lt"/>
              </a:rPr>
              <a:t>dense prediction tasks</a:t>
            </a:r>
            <a:r>
              <a:rPr lang="en-US" dirty="0">
                <a:latin typeface="+mj-lt"/>
              </a:rPr>
              <a:t> like semantic segmentation.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highlight>
                  <a:srgbClr val="FFFF00"/>
                </a:highlight>
                <a:latin typeface="+mj-lt"/>
              </a:rPr>
              <a:t>Architecture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Uses only convolutional layers (no fully connected layers), often with </a:t>
            </a:r>
            <a:r>
              <a:rPr lang="en-US" b="1" dirty="0">
                <a:latin typeface="+mj-lt"/>
              </a:rPr>
              <a:t>upsampling</a:t>
            </a:r>
            <a:r>
              <a:rPr lang="en-US" dirty="0">
                <a:latin typeface="+mj-lt"/>
              </a:rPr>
              <a:t> to maintain spatial resolution.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highlight>
                  <a:srgbClr val="FFFF00"/>
                </a:highlight>
                <a:latin typeface="+mj-lt"/>
              </a:rPr>
              <a:t>Output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Produces a </a:t>
            </a:r>
            <a:r>
              <a:rPr lang="en-US" b="1" dirty="0">
                <a:latin typeface="+mj-lt"/>
              </a:rPr>
              <a:t>spatial map</a:t>
            </a:r>
            <a:r>
              <a:rPr lang="en-US" dirty="0">
                <a:latin typeface="+mj-lt"/>
              </a:rPr>
              <a:t> of predictions (e.g., class labels for each pixel).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9030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B1D65-F706-926E-7108-B647507CF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6" y="0"/>
            <a:ext cx="11160126" cy="1116012"/>
          </a:xfrm>
        </p:spPr>
        <p:txBody>
          <a:bodyPr/>
          <a:lstStyle/>
          <a:p>
            <a:r>
              <a:rPr lang="en-US" dirty="0"/>
              <a:t>RNN / LSTM</a:t>
            </a:r>
            <a:br>
              <a:rPr lang="en-US" dirty="0"/>
            </a:br>
            <a:r>
              <a:rPr lang="en-US" sz="1800" dirty="0"/>
              <a:t>(Recurrent Neural Network / Long Short-Term Memory)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A3D4DC-0D4F-63B5-4DF4-E64D7B42B6E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69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3D7C2-BE43-3D75-D508-E3A2362261F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101689"/>
            <a:ext cx="11160127" cy="3514381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highlight>
                  <a:srgbClr val="FFFF00"/>
                </a:highlight>
                <a:latin typeface="+mj-lt"/>
              </a:rPr>
              <a:t>Purpose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</a:p>
          <a:p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Designed for </a:t>
            </a:r>
            <a:r>
              <a:rPr lang="en-US" b="1" dirty="0">
                <a:latin typeface="+mj-lt"/>
              </a:rPr>
              <a:t>sequential data</a:t>
            </a:r>
            <a:r>
              <a:rPr lang="en-US" dirty="0">
                <a:latin typeface="+mj-lt"/>
              </a:rPr>
              <a:t> like text, time series, or speech. LSTMs improve upon vanilla RNNs by handling </a:t>
            </a:r>
            <a:r>
              <a:rPr lang="en-US" b="1" dirty="0">
                <a:latin typeface="+mj-lt"/>
              </a:rPr>
              <a:t>long-term dependencies</a:t>
            </a:r>
            <a:r>
              <a:rPr lang="en-US" dirty="0">
                <a:latin typeface="+mj-lt"/>
              </a:rPr>
              <a:t> better.</a:t>
            </a: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highlight>
                  <a:srgbClr val="FFFF00"/>
                </a:highlight>
                <a:latin typeface="+mj-lt"/>
              </a:rPr>
              <a:t>Architecture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  <a:endParaRPr lang="en-US" dirty="0">
              <a:latin typeface="+mj-lt"/>
            </a:endParaRPr>
          </a:p>
          <a:p>
            <a:pPr lvl="1"/>
            <a:r>
              <a:rPr lang="en-US" b="1" dirty="0">
                <a:latin typeface="+mj-lt"/>
              </a:rPr>
              <a:t>RNNs</a:t>
            </a:r>
            <a:r>
              <a:rPr lang="en-US" dirty="0">
                <a:latin typeface="+mj-lt"/>
              </a:rPr>
              <a:t>: Have loops allowing information to persist across time steps.</a:t>
            </a:r>
          </a:p>
          <a:p>
            <a:pPr lvl="1"/>
            <a:r>
              <a:rPr lang="en-US" b="1" dirty="0">
                <a:latin typeface="+mj-lt"/>
              </a:rPr>
              <a:t>LSTMs</a:t>
            </a:r>
            <a:r>
              <a:rPr lang="en-US" dirty="0">
                <a:latin typeface="+mj-lt"/>
              </a:rPr>
              <a:t>: Include </a:t>
            </a:r>
            <a:r>
              <a:rPr lang="en-US" b="1" dirty="0">
                <a:latin typeface="+mj-lt"/>
              </a:rPr>
              <a:t>gates</a:t>
            </a:r>
            <a:r>
              <a:rPr lang="en-US" dirty="0">
                <a:latin typeface="+mj-lt"/>
              </a:rPr>
              <a:t> (input, forget, output) to control the flow of information. Can be stacked or bidirectional for more power.</a:t>
            </a: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highlight>
                  <a:srgbClr val="FFFF00"/>
                </a:highlight>
                <a:latin typeface="+mj-lt"/>
              </a:rPr>
              <a:t>Output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</a:p>
          <a:p>
            <a:pPr lvl="1"/>
            <a:r>
              <a:rPr lang="en-US" dirty="0">
                <a:latin typeface="+mj-lt"/>
              </a:rPr>
              <a:t>A </a:t>
            </a:r>
            <a:r>
              <a:rPr lang="en-US" b="1" dirty="0">
                <a:latin typeface="+mj-lt"/>
              </a:rPr>
              <a:t>sequence of predictions</a:t>
            </a:r>
            <a:r>
              <a:rPr lang="en-US" dirty="0">
                <a:latin typeface="+mj-lt"/>
              </a:rPr>
              <a:t> (e.g., next word in a sentence)</a:t>
            </a:r>
          </a:p>
          <a:p>
            <a:pPr lvl="1"/>
            <a:r>
              <a:rPr lang="en-US" dirty="0">
                <a:latin typeface="+mj-lt"/>
              </a:rPr>
              <a:t>Or a </a:t>
            </a:r>
            <a:r>
              <a:rPr lang="en-US" b="1" dirty="0">
                <a:latin typeface="+mj-lt"/>
              </a:rPr>
              <a:t>single prediction</a:t>
            </a:r>
            <a:r>
              <a:rPr lang="en-US" dirty="0">
                <a:latin typeface="+mj-lt"/>
              </a:rPr>
              <a:t> after processing the entire sequence (e.g., sentiment classification)</a:t>
            </a:r>
          </a:p>
          <a:p>
            <a:endParaRPr lang="en-US" dirty="0">
              <a:latin typeface="+mj-lt"/>
            </a:endParaRPr>
          </a:p>
        </p:txBody>
      </p:sp>
      <p:pic>
        <p:nvPicPr>
          <p:cNvPr id="4100" name="Picture 4" descr="RNN and LSTM comparison chart | Download Scientific Diagram">
            <a:extLst>
              <a:ext uri="{FF2B5EF4-FFF2-40B4-BE49-F238E27FC236}">
                <a16:creationId xmlns:a16="http://schemas.microsoft.com/office/drawing/2014/main" id="{82AEC00A-1FB1-0F9C-233E-B26ECAA69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104" y="4538949"/>
            <a:ext cx="3532604" cy="2319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Deep Learning – Introduction to Recurrent Neural Networks – AILabPage">
            <a:extLst>
              <a:ext uri="{FF2B5EF4-FFF2-40B4-BE49-F238E27FC236}">
                <a16:creationId xmlns:a16="http://schemas.microsoft.com/office/drawing/2014/main" id="{86DE5E28-3CFD-49A1-5F95-E74AD99B31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1" t="19494" r="6819"/>
          <a:stretch>
            <a:fillRect/>
          </a:stretch>
        </p:blipFill>
        <p:spPr bwMode="auto">
          <a:xfrm>
            <a:off x="1569292" y="4538949"/>
            <a:ext cx="4583017" cy="220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396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7964-31A6-458E-13F3-3A9DCE30B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24031"/>
            <a:ext cx="11160125" cy="1116012"/>
          </a:xfrm>
        </p:spPr>
        <p:txBody>
          <a:bodyPr/>
          <a:lstStyle/>
          <a:p>
            <a:r>
              <a:rPr lang="en-US" dirty="0"/>
              <a:t>Transformer (!)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BDA237-6C91-4EB3-CC86-788B2B6D63E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600C3-6833-0295-6F25-A9C1F57FC2F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140043"/>
            <a:ext cx="7347904" cy="569392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highlight>
                  <a:srgbClr val="FFFF00"/>
                </a:highlight>
                <a:latin typeface="+mj-lt"/>
              </a:rPr>
              <a:t>Purpose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</a:p>
          <a:p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Built for </a:t>
            </a:r>
            <a:r>
              <a:rPr lang="en-US" b="1" dirty="0">
                <a:latin typeface="+mj-lt"/>
              </a:rPr>
              <a:t>sequence modeling</a:t>
            </a:r>
            <a:r>
              <a:rPr lang="en-US" dirty="0">
                <a:latin typeface="+mj-lt"/>
              </a:rPr>
              <a:t> without recurrence. Transformers excel at capturing </a:t>
            </a:r>
            <a:r>
              <a:rPr lang="en-US" b="1" dirty="0">
                <a:latin typeface="+mj-lt"/>
              </a:rPr>
              <a:t>global dependencies</a:t>
            </a:r>
            <a:r>
              <a:rPr lang="en-US" dirty="0">
                <a:latin typeface="+mj-lt"/>
              </a:rPr>
              <a:t> using attention mechanisms.</a:t>
            </a: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highlight>
                  <a:srgbClr val="FFFF00"/>
                </a:highlight>
                <a:latin typeface="+mj-lt"/>
              </a:rPr>
              <a:t>Architecture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</a:p>
          <a:p>
            <a:pPr lvl="1"/>
            <a:r>
              <a:rPr lang="en-US" b="1" dirty="0">
                <a:latin typeface="+mj-lt"/>
              </a:rPr>
              <a:t>Self-attention layers</a:t>
            </a:r>
            <a:r>
              <a:rPr lang="en-US" dirty="0">
                <a:latin typeface="+mj-lt"/>
              </a:rPr>
              <a:t> to weigh relationships between all tokens</a:t>
            </a:r>
          </a:p>
          <a:p>
            <a:pPr lvl="1"/>
            <a:r>
              <a:rPr lang="en-US" b="1" dirty="0">
                <a:latin typeface="+mj-lt"/>
              </a:rPr>
              <a:t>Positional encoding</a:t>
            </a:r>
            <a:r>
              <a:rPr lang="en-US" dirty="0">
                <a:latin typeface="+mj-lt"/>
              </a:rPr>
              <a:t> to retain order</a:t>
            </a:r>
          </a:p>
          <a:p>
            <a:pPr lvl="1"/>
            <a:r>
              <a:rPr lang="en-US" b="1" dirty="0">
                <a:latin typeface="+mj-lt"/>
              </a:rPr>
              <a:t>Encoder-decoder</a:t>
            </a:r>
            <a:r>
              <a:rPr lang="en-US" dirty="0">
                <a:latin typeface="+mj-lt"/>
              </a:rPr>
              <a:t> structure in models like BERT (encoder-only) or GPT (decoder-only)</a:t>
            </a: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highlight>
                  <a:srgbClr val="FFFF00"/>
                </a:highlight>
                <a:latin typeface="+mj-lt"/>
              </a:rPr>
              <a:t>Output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</a:p>
          <a:p>
            <a:pPr lvl="1"/>
            <a:r>
              <a:rPr lang="en-US" dirty="0">
                <a:latin typeface="+mj-lt"/>
              </a:rPr>
              <a:t>Can be a </a:t>
            </a:r>
            <a:r>
              <a:rPr lang="en-US" b="1" dirty="0">
                <a:latin typeface="+mj-lt"/>
              </a:rPr>
              <a:t>sequence</a:t>
            </a:r>
            <a:r>
              <a:rPr lang="en-US" dirty="0">
                <a:latin typeface="+mj-lt"/>
              </a:rPr>
              <a:t> (e.g., translated sentence)</a:t>
            </a:r>
          </a:p>
          <a:p>
            <a:pPr lvl="1"/>
            <a:r>
              <a:rPr lang="en-US" dirty="0">
                <a:latin typeface="+mj-lt"/>
              </a:rPr>
              <a:t>Or a </a:t>
            </a:r>
            <a:r>
              <a:rPr lang="en-US" b="1" dirty="0">
                <a:latin typeface="+mj-lt"/>
              </a:rPr>
              <a:t>single value</a:t>
            </a:r>
            <a:r>
              <a:rPr lang="en-US" dirty="0">
                <a:latin typeface="+mj-lt"/>
              </a:rPr>
              <a:t> (e.g., classification score)</a:t>
            </a:r>
          </a:p>
          <a:p>
            <a:pPr lvl="1"/>
            <a:r>
              <a:rPr lang="en-US" dirty="0">
                <a:latin typeface="+mj-lt"/>
              </a:rPr>
              <a:t>Extremely flexible: used in NLP, vision (ViT), audio, and more</a:t>
            </a:r>
          </a:p>
          <a:p>
            <a:endParaRPr lang="en-US" dirty="0">
              <a:latin typeface="+mj-lt"/>
            </a:endParaRPr>
          </a:p>
        </p:txBody>
      </p:sp>
      <p:pic>
        <p:nvPicPr>
          <p:cNvPr id="5124" name="Picture 4" descr="Sequence Models Compared: RNNs, LSTMs, GRUs, and Transformers - AIML.com">
            <a:extLst>
              <a:ext uri="{FF2B5EF4-FFF2-40B4-BE49-F238E27FC236}">
                <a16:creationId xmlns:a16="http://schemas.microsoft.com/office/drawing/2014/main" id="{D710032D-A03A-D1E1-CD40-2CE709CE34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97" t="15917" r="1946" b="2247"/>
          <a:stretch>
            <a:fillRect/>
          </a:stretch>
        </p:blipFill>
        <p:spPr bwMode="auto">
          <a:xfrm>
            <a:off x="7778044" y="423897"/>
            <a:ext cx="4413956" cy="632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9783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9099E-2FFF-E3D9-0FEF-F01F3B0F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0"/>
            <a:ext cx="11160125" cy="1116012"/>
          </a:xfrm>
        </p:spPr>
        <p:txBody>
          <a:bodyPr/>
          <a:lstStyle/>
          <a:p>
            <a:r>
              <a:rPr lang="en-US" dirty="0"/>
              <a:t>Generative Adversarial Network (GAN)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4A4D2C-0A94-37B6-CD99-03D040DAF92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71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8BBDA-9C78-81C1-7FBA-93FA1D91B76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94911" y="892367"/>
            <a:ext cx="11435508" cy="342624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highlight>
                  <a:srgbClr val="FFFF00"/>
                </a:highlight>
                <a:latin typeface="+mj-lt"/>
              </a:rPr>
              <a:t>Purpose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</a:p>
          <a:p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Designed for </a:t>
            </a:r>
            <a:r>
              <a:rPr lang="en-US" b="1" dirty="0">
                <a:latin typeface="+mj-lt"/>
              </a:rPr>
              <a:t>generative tasks</a:t>
            </a:r>
            <a:r>
              <a:rPr lang="en-US" dirty="0">
                <a:latin typeface="+mj-lt"/>
              </a:rPr>
              <a:t> — creating realistic data (images, audio, etc.) from noise or latent representations.</a:t>
            </a: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highlight>
                  <a:srgbClr val="FFFF00"/>
                </a:highlight>
                <a:latin typeface="+mj-lt"/>
              </a:rPr>
              <a:t>Architecture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</a:p>
          <a:p>
            <a:pPr lvl="1"/>
            <a:r>
              <a:rPr lang="en-US" b="1" dirty="0">
                <a:latin typeface="+mj-lt"/>
              </a:rPr>
              <a:t>Generator</a:t>
            </a:r>
            <a:r>
              <a:rPr lang="en-US" dirty="0">
                <a:latin typeface="+mj-lt"/>
              </a:rPr>
              <a:t>: Learns to produce realistic data</a:t>
            </a:r>
          </a:p>
          <a:p>
            <a:pPr lvl="1"/>
            <a:r>
              <a:rPr lang="en-US" b="1" dirty="0">
                <a:latin typeface="+mj-lt"/>
              </a:rPr>
              <a:t>Discriminator</a:t>
            </a:r>
            <a:r>
              <a:rPr lang="en-US" dirty="0">
                <a:latin typeface="+mj-lt"/>
              </a:rPr>
              <a:t>: Learns to distinguish real from fake</a:t>
            </a:r>
          </a:p>
          <a:p>
            <a:pPr lvl="1"/>
            <a:r>
              <a:rPr lang="en-US" dirty="0">
                <a:latin typeface="+mj-lt"/>
              </a:rPr>
              <a:t>Trained in a </a:t>
            </a:r>
            <a:r>
              <a:rPr lang="en-US" b="1" dirty="0">
                <a:latin typeface="+mj-lt"/>
              </a:rPr>
              <a:t>min-max game</a:t>
            </a:r>
            <a:r>
              <a:rPr lang="en-US" dirty="0">
                <a:latin typeface="+mj-lt"/>
              </a:rPr>
              <a:t> where both networks improve iteratively</a:t>
            </a: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highlight>
                  <a:srgbClr val="FFFF00"/>
                </a:highlight>
                <a:latin typeface="+mj-lt"/>
              </a:rPr>
              <a:t>Output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:</a:t>
            </a:r>
          </a:p>
          <a:p>
            <a:pPr lvl="1"/>
            <a:r>
              <a:rPr lang="en-US" b="1" dirty="0">
                <a:latin typeface="+mj-lt"/>
              </a:rPr>
              <a:t>Synthetic data</a:t>
            </a:r>
            <a:r>
              <a:rPr lang="en-US" dirty="0">
                <a:latin typeface="+mj-lt"/>
              </a:rPr>
              <a:t> (e.g., images, videos, music)</a:t>
            </a:r>
          </a:p>
          <a:p>
            <a:pPr lvl="1"/>
            <a:r>
              <a:rPr lang="en-US" dirty="0">
                <a:latin typeface="+mj-lt"/>
              </a:rPr>
              <a:t>Often indistinguishable from real data when trained well</a:t>
            </a:r>
          </a:p>
          <a:p>
            <a:endParaRPr lang="en-US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640169-6C5A-359E-5777-5FFCF70874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79" b="22054"/>
          <a:stretch>
            <a:fillRect/>
          </a:stretch>
        </p:blipFill>
        <p:spPr>
          <a:xfrm>
            <a:off x="2149235" y="4198028"/>
            <a:ext cx="7633743" cy="265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083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5B2C-0AA5-FF13-19B6-CFE6D439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 to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4D9B7-FDEC-00F5-23EF-C630571BF42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72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B0B04-4B47-E7C5-AEC0-4E509A4C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257" y="2479656"/>
            <a:ext cx="2995050" cy="2736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9007E4-2A90-F430-AA08-80AD1474E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783" y="2479656"/>
            <a:ext cx="2777832" cy="2736080"/>
          </a:xfrm>
          <a:prstGeom prst="rect">
            <a:avLst/>
          </a:prstGeom>
        </p:spPr>
      </p:pic>
      <p:pic>
        <p:nvPicPr>
          <p:cNvPr id="23556" name="Picture 4" descr="Discussion - Free social icons">
            <a:extLst>
              <a:ext uri="{FF2B5EF4-FFF2-40B4-BE49-F238E27FC236}">
                <a16:creationId xmlns:a16="http://schemas.microsoft.com/office/drawing/2014/main" id="{BA6123D5-AA06-F35B-B984-B2ACEFF3B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49" y="2628495"/>
            <a:ext cx="2653731" cy="265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511644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EF84DE-A9E1-41BA-A1A9-89715600EE7E}">
  <ds:schemaRefs>
    <ds:schemaRef ds:uri="1946ab53-a53d-4984-8df3-e4b9666a144b"/>
    <ds:schemaRef ds:uri="254ef4c1-7c04-4bd8-aace-2dac36451d1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8B92E74-0DAA-4211-914A-CE18DD5C2D9B}">
  <ds:schemaRefs>
    <ds:schemaRef ds:uri="http://purl.org/dc/dcmitype/"/>
    <ds:schemaRef ds:uri="http://schemas.microsoft.com/office/infopath/2007/PartnerControls"/>
    <ds:schemaRef ds:uri="254ef4c1-7c04-4bd8-aace-2dac36451d1b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1946ab53-a53d-4984-8df3-e4b9666a144b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5450</TotalTime>
  <Words>2360</Words>
  <Application>Microsoft Office PowerPoint</Application>
  <PresentationFormat>Widescreen</PresentationFormat>
  <Paragraphs>345</Paragraphs>
  <Slides>72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72</vt:i4>
      </vt:variant>
    </vt:vector>
  </HeadingPairs>
  <TitlesOfParts>
    <vt:vector size="80" baseType="lpstr">
      <vt:lpstr>Aptos Light</vt:lpstr>
      <vt:lpstr>Arial</vt:lpstr>
      <vt:lpstr>Calibri</vt:lpstr>
      <vt:lpstr>Century Gothic</vt:lpstr>
      <vt:lpstr>Wingdings</vt:lpstr>
      <vt:lpstr>WIT</vt:lpstr>
      <vt:lpstr>ORANJE</vt:lpstr>
      <vt:lpstr>BLAUW</vt:lpstr>
      <vt:lpstr>PowerPoint Presentation</vt:lpstr>
      <vt:lpstr>5 V’s of Big Data</vt:lpstr>
      <vt:lpstr>Horizontal (Out) – Vertical (Up) Scaling</vt:lpstr>
      <vt:lpstr>Distributed Resources: ‘Manager’ needed Reverse Proxy</vt:lpstr>
      <vt:lpstr>Evolution of Application Architectures </vt:lpstr>
      <vt:lpstr>Evolution of Data Architectures</vt:lpstr>
      <vt:lpstr>Trustworthy AI &amp; Ethics</vt:lpstr>
      <vt:lpstr>Deep Learning</vt:lpstr>
      <vt:lpstr>Lesson Goals</vt:lpstr>
      <vt:lpstr>PowerPoint Presentation</vt:lpstr>
      <vt:lpstr>AI &gt; ML &gt; DL</vt:lpstr>
      <vt:lpstr>Deep Learning better with Big Data</vt:lpstr>
      <vt:lpstr>Machine Learning = Data Driven</vt:lpstr>
      <vt:lpstr>(High Level) ML Pipeline versus DL Pipeline</vt:lpstr>
      <vt:lpstr>PowerPoint Presentation</vt:lpstr>
      <vt:lpstr>Latent Space</vt:lpstr>
      <vt:lpstr>Encoding / Decoding</vt:lpstr>
      <vt:lpstr>Difference ML versus DL</vt:lpstr>
      <vt:lpstr>What made Deep Learning feasible?</vt:lpstr>
      <vt:lpstr>Why Fastai / Pytorch</vt:lpstr>
      <vt:lpstr>Neuron / (Linear) Perceptron</vt:lpstr>
      <vt:lpstr>Tensor Calculations</vt:lpstr>
      <vt:lpstr>Activation Functions: adding non-linearity</vt:lpstr>
      <vt:lpstr>Activation Function: Active Region</vt:lpstr>
      <vt:lpstr>Naïve, Fully Connected (FCN), Dense, Feedforward Network, aka Multi-Layer Perceptron</vt:lpstr>
      <vt:lpstr>Universal Approximator (one hidden layer is theoretically enough)</vt:lpstr>
      <vt:lpstr>Layers of a Deep Learning Network</vt:lpstr>
      <vt:lpstr>Learning Cycle</vt:lpstr>
      <vt:lpstr>Epoch – Batch - Iteration</vt:lpstr>
      <vt:lpstr>Underfit – Overfit: use of validation set</vt:lpstr>
      <vt:lpstr>After training: inference (predict)</vt:lpstr>
      <vt:lpstr>Advanced Topics</vt:lpstr>
      <vt:lpstr>PowerPoint Presentation</vt:lpstr>
      <vt:lpstr>Data Preprocessing</vt:lpstr>
      <vt:lpstr>Normalize - Standardize</vt:lpstr>
      <vt:lpstr>PowerPoint Presentation</vt:lpstr>
      <vt:lpstr>Loss calculation</vt:lpstr>
      <vt:lpstr>Backwards Pass</vt:lpstr>
      <vt:lpstr>Update Weights (simplification)</vt:lpstr>
      <vt:lpstr>Learning Rate</vt:lpstr>
      <vt:lpstr>PowerPoint Presentation</vt:lpstr>
      <vt:lpstr>Getting Stuck in Local Minima (of the loss function)</vt:lpstr>
      <vt:lpstr>Loss Landscapes: theory versus reality</vt:lpstr>
      <vt:lpstr>Local Minima &amp; Saddle Points</vt:lpstr>
      <vt:lpstr>Solution 1: Randomness by Batch Size</vt:lpstr>
      <vt:lpstr>Solution 2: Randomness by Learning Rate</vt:lpstr>
      <vt:lpstr>One Cycle Learning Rate Scheme</vt:lpstr>
      <vt:lpstr>Solution 3: Momentum Optimizer (adam)</vt:lpstr>
      <vt:lpstr>PowerPoint Presentation</vt:lpstr>
      <vt:lpstr>Vanishing Gradient</vt:lpstr>
      <vt:lpstr>Solution: Use ReLu activations</vt:lpstr>
      <vt:lpstr>Variants: Leaky ReLU, ELU, …</vt:lpstr>
      <vt:lpstr>PowerPoint Presentation</vt:lpstr>
      <vt:lpstr>Internal Covariate Shift</vt:lpstr>
      <vt:lpstr>Solution: Batch Normalization</vt:lpstr>
      <vt:lpstr>PowerPoint Presentation</vt:lpstr>
      <vt:lpstr>General Solution: Regularize the training process </vt:lpstr>
      <vt:lpstr>Regularization 1: Early Stopping</vt:lpstr>
      <vt:lpstr>Regularization 2: L2 regularization (L2: using squares to get rid of the sign)</vt:lpstr>
      <vt:lpstr>Regularization 3: Dropout</vt:lpstr>
      <vt:lpstr>Regularization 3: Ensemble Methods</vt:lpstr>
      <vt:lpstr>Regularization 3: Data Augmentation</vt:lpstr>
      <vt:lpstr>Data Augmentation: even multiclass</vt:lpstr>
      <vt:lpstr>Python Library: Albumentations.ai</vt:lpstr>
      <vt:lpstr>PowerPoint Presentation</vt:lpstr>
      <vt:lpstr>Convolutional Neural Network (CNN)</vt:lpstr>
      <vt:lpstr>(Denoising / Variational) Auto-encoder </vt:lpstr>
      <vt:lpstr>Fully Convolutional Network (FCN)</vt:lpstr>
      <vt:lpstr>RNN / LSTM (Recurrent Neural Network / Long Short-Term Memory)</vt:lpstr>
      <vt:lpstr>Transformer (!)</vt:lpstr>
      <vt:lpstr>Generative Adversarial Network (GAN)</vt:lpstr>
      <vt:lpstr>Over to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Bram Heyns</cp:lastModifiedBy>
  <cp:revision>1</cp:revision>
  <cp:lastPrinted>2023-01-03T10:29:33Z</cp:lastPrinted>
  <dcterms:created xsi:type="dcterms:W3CDTF">2022-09-05T06:43:33Z</dcterms:created>
  <dcterms:modified xsi:type="dcterms:W3CDTF">2026-10-15T19:05:04Z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2023-07-26T10:00:37Z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f7b68f83-8ae1-441f-892d-75981bb0c885</vt:lpwstr>
  </property>
  <property fmtid="{D5CDD505-2E9C-101B-9397-08002B2CF9AE}" pid="10" name="MSIP_Label_c337be75-dfbb-4261-9834-ac247c7dde13_ContentBits">
    <vt:lpwstr>0</vt:lpwstr>
  </property>
</Properties>
</file>